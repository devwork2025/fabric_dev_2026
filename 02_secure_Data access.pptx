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4" r:id="rId9"/>
    <p:sldId id="261"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9" autoAdjust="0"/>
    <p:restoredTop sz="94660"/>
  </p:normalViewPr>
  <p:slideViewPr>
    <p:cSldViewPr snapToGrid="0">
      <p:cViewPr varScale="1">
        <p:scale>
          <a:sx n="90" d="100"/>
          <a:sy n="90" d="100"/>
        </p:scale>
        <p:origin x="17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465CC-83F3-457C-DC23-9F1825754C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94DF310-B5EC-E854-C9C7-15E159FE13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CB7A0CE-CE1E-C0F5-3C7C-305ED804956A}"/>
              </a:ext>
            </a:extLst>
          </p:cNvPr>
          <p:cNvSpPr>
            <a:spLocks noGrp="1"/>
          </p:cNvSpPr>
          <p:nvPr>
            <p:ph type="dt" sz="half" idx="10"/>
          </p:nvPr>
        </p:nvSpPr>
        <p:spPr/>
        <p:txBody>
          <a:bodyPr/>
          <a:lstStyle/>
          <a:p>
            <a:fld id="{563D30D3-4A12-4A65-B4C5-27183B6C7470}" type="datetimeFigureOut">
              <a:rPr lang="en-US" smtClean="0"/>
              <a:t>3/31/2025</a:t>
            </a:fld>
            <a:endParaRPr lang="en-US"/>
          </a:p>
        </p:txBody>
      </p:sp>
      <p:sp>
        <p:nvSpPr>
          <p:cNvPr id="5" name="Footer Placeholder 4">
            <a:extLst>
              <a:ext uri="{FF2B5EF4-FFF2-40B4-BE49-F238E27FC236}">
                <a16:creationId xmlns:a16="http://schemas.microsoft.com/office/drawing/2014/main" id="{8E0D5119-47B9-2B87-9433-800B684B80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8EDB10-1FDC-C928-8A23-5B416766D147}"/>
              </a:ext>
            </a:extLst>
          </p:cNvPr>
          <p:cNvSpPr>
            <a:spLocks noGrp="1"/>
          </p:cNvSpPr>
          <p:nvPr>
            <p:ph type="sldNum" sz="quarter" idx="12"/>
          </p:nvPr>
        </p:nvSpPr>
        <p:spPr/>
        <p:txBody>
          <a:bodyPr/>
          <a:lstStyle/>
          <a:p>
            <a:fld id="{4665799B-5D2B-411A-885A-F229DEFBE1F1}" type="slidenum">
              <a:rPr lang="en-US" smtClean="0"/>
              <a:t>‹#›</a:t>
            </a:fld>
            <a:endParaRPr lang="en-US"/>
          </a:p>
        </p:txBody>
      </p:sp>
    </p:spTree>
    <p:extLst>
      <p:ext uri="{BB962C8B-B14F-4D97-AF65-F5344CB8AC3E}">
        <p14:creationId xmlns:p14="http://schemas.microsoft.com/office/powerpoint/2010/main" val="1081270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4B996-4972-A210-6F62-894EF6F3E2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E7E5F4-7C72-C40D-B6EA-F5A5BF5DF1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829D94-1DC7-022A-FA79-5B53CD4605DC}"/>
              </a:ext>
            </a:extLst>
          </p:cNvPr>
          <p:cNvSpPr>
            <a:spLocks noGrp="1"/>
          </p:cNvSpPr>
          <p:nvPr>
            <p:ph type="dt" sz="half" idx="10"/>
          </p:nvPr>
        </p:nvSpPr>
        <p:spPr/>
        <p:txBody>
          <a:bodyPr/>
          <a:lstStyle/>
          <a:p>
            <a:fld id="{563D30D3-4A12-4A65-B4C5-27183B6C7470}" type="datetimeFigureOut">
              <a:rPr lang="en-US" smtClean="0"/>
              <a:t>3/31/2025</a:t>
            </a:fld>
            <a:endParaRPr lang="en-US"/>
          </a:p>
        </p:txBody>
      </p:sp>
      <p:sp>
        <p:nvSpPr>
          <p:cNvPr id="5" name="Footer Placeholder 4">
            <a:extLst>
              <a:ext uri="{FF2B5EF4-FFF2-40B4-BE49-F238E27FC236}">
                <a16:creationId xmlns:a16="http://schemas.microsoft.com/office/drawing/2014/main" id="{BAA623DA-8A94-FF5A-85D2-1C5FED4E08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167468-B8C1-17A6-8546-30CF87B6AC8E}"/>
              </a:ext>
            </a:extLst>
          </p:cNvPr>
          <p:cNvSpPr>
            <a:spLocks noGrp="1"/>
          </p:cNvSpPr>
          <p:nvPr>
            <p:ph type="sldNum" sz="quarter" idx="12"/>
          </p:nvPr>
        </p:nvSpPr>
        <p:spPr/>
        <p:txBody>
          <a:bodyPr/>
          <a:lstStyle/>
          <a:p>
            <a:fld id="{4665799B-5D2B-411A-885A-F229DEFBE1F1}" type="slidenum">
              <a:rPr lang="en-US" smtClean="0"/>
              <a:t>‹#›</a:t>
            </a:fld>
            <a:endParaRPr lang="en-US"/>
          </a:p>
        </p:txBody>
      </p:sp>
    </p:spTree>
    <p:extLst>
      <p:ext uri="{BB962C8B-B14F-4D97-AF65-F5344CB8AC3E}">
        <p14:creationId xmlns:p14="http://schemas.microsoft.com/office/powerpoint/2010/main" val="3664235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F649C-B5B2-A176-B31B-8679A9CA2DC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23119A0-7DF6-3908-FD6B-626165B631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3C39-6C61-E6C4-914A-7A7F268DD32F}"/>
              </a:ext>
            </a:extLst>
          </p:cNvPr>
          <p:cNvSpPr>
            <a:spLocks noGrp="1"/>
          </p:cNvSpPr>
          <p:nvPr>
            <p:ph type="dt" sz="half" idx="10"/>
          </p:nvPr>
        </p:nvSpPr>
        <p:spPr/>
        <p:txBody>
          <a:bodyPr/>
          <a:lstStyle/>
          <a:p>
            <a:fld id="{563D30D3-4A12-4A65-B4C5-27183B6C7470}" type="datetimeFigureOut">
              <a:rPr lang="en-US" smtClean="0"/>
              <a:t>3/31/2025</a:t>
            </a:fld>
            <a:endParaRPr lang="en-US"/>
          </a:p>
        </p:txBody>
      </p:sp>
      <p:sp>
        <p:nvSpPr>
          <p:cNvPr id="5" name="Footer Placeholder 4">
            <a:extLst>
              <a:ext uri="{FF2B5EF4-FFF2-40B4-BE49-F238E27FC236}">
                <a16:creationId xmlns:a16="http://schemas.microsoft.com/office/drawing/2014/main" id="{3AD6CB1B-A2D2-E5C7-9011-DC6FF45A85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593941-0487-9B40-51FB-182BBE87CFE6}"/>
              </a:ext>
            </a:extLst>
          </p:cNvPr>
          <p:cNvSpPr>
            <a:spLocks noGrp="1"/>
          </p:cNvSpPr>
          <p:nvPr>
            <p:ph type="sldNum" sz="quarter" idx="12"/>
          </p:nvPr>
        </p:nvSpPr>
        <p:spPr/>
        <p:txBody>
          <a:bodyPr/>
          <a:lstStyle/>
          <a:p>
            <a:fld id="{4665799B-5D2B-411A-885A-F229DEFBE1F1}" type="slidenum">
              <a:rPr lang="en-US" smtClean="0"/>
              <a:t>‹#›</a:t>
            </a:fld>
            <a:endParaRPr lang="en-US"/>
          </a:p>
        </p:txBody>
      </p:sp>
    </p:spTree>
    <p:extLst>
      <p:ext uri="{BB962C8B-B14F-4D97-AF65-F5344CB8AC3E}">
        <p14:creationId xmlns:p14="http://schemas.microsoft.com/office/powerpoint/2010/main" val="1169749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2BF04-FCA0-0EF7-1B76-B4BB9FA7B6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C37A59-2517-9305-3506-86A197E7E51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DFF2DF-158B-F172-3A65-25CB7C31F1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1AFE6A-B4C0-AECD-A60B-0AE03D11A101}"/>
              </a:ext>
            </a:extLst>
          </p:cNvPr>
          <p:cNvSpPr>
            <a:spLocks noGrp="1"/>
          </p:cNvSpPr>
          <p:nvPr>
            <p:ph type="dt" sz="half" idx="10"/>
          </p:nvPr>
        </p:nvSpPr>
        <p:spPr/>
        <p:txBody>
          <a:bodyPr/>
          <a:lstStyle/>
          <a:p>
            <a:fld id="{563D30D3-4A12-4A65-B4C5-27183B6C7470}" type="datetimeFigureOut">
              <a:rPr lang="en-US" smtClean="0"/>
              <a:t>3/31/2025</a:t>
            </a:fld>
            <a:endParaRPr lang="en-US"/>
          </a:p>
        </p:txBody>
      </p:sp>
      <p:sp>
        <p:nvSpPr>
          <p:cNvPr id="6" name="Footer Placeholder 5">
            <a:extLst>
              <a:ext uri="{FF2B5EF4-FFF2-40B4-BE49-F238E27FC236}">
                <a16:creationId xmlns:a16="http://schemas.microsoft.com/office/drawing/2014/main" id="{1FB73D79-1BA8-860A-14D8-738ADEABD9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8F63E6-FAB6-BC77-F7B3-530F7F4AEC47}"/>
              </a:ext>
            </a:extLst>
          </p:cNvPr>
          <p:cNvSpPr>
            <a:spLocks noGrp="1"/>
          </p:cNvSpPr>
          <p:nvPr>
            <p:ph type="sldNum" sz="quarter" idx="12"/>
          </p:nvPr>
        </p:nvSpPr>
        <p:spPr/>
        <p:txBody>
          <a:bodyPr/>
          <a:lstStyle/>
          <a:p>
            <a:fld id="{4665799B-5D2B-411A-885A-F229DEFBE1F1}" type="slidenum">
              <a:rPr lang="en-US" smtClean="0"/>
              <a:t>‹#›</a:t>
            </a:fld>
            <a:endParaRPr lang="en-US"/>
          </a:p>
        </p:txBody>
      </p:sp>
    </p:spTree>
    <p:extLst>
      <p:ext uri="{BB962C8B-B14F-4D97-AF65-F5344CB8AC3E}">
        <p14:creationId xmlns:p14="http://schemas.microsoft.com/office/powerpoint/2010/main" val="1738120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44AC2-5DC2-BA89-8225-2CA887E921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D2F51C8-700D-E4D9-FEC6-61CC2581D0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90AFD0-2771-23BB-5199-A2D957DD61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C0F1BCB-3A70-952B-DA17-11F731CE91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A81A62-613F-04F1-AE4C-BBEB2CC8757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A891C1-B53E-CED3-0E1B-94BE85F42382}"/>
              </a:ext>
            </a:extLst>
          </p:cNvPr>
          <p:cNvSpPr>
            <a:spLocks noGrp="1"/>
          </p:cNvSpPr>
          <p:nvPr>
            <p:ph type="dt" sz="half" idx="10"/>
          </p:nvPr>
        </p:nvSpPr>
        <p:spPr/>
        <p:txBody>
          <a:bodyPr/>
          <a:lstStyle/>
          <a:p>
            <a:fld id="{563D30D3-4A12-4A65-B4C5-27183B6C7470}" type="datetimeFigureOut">
              <a:rPr lang="en-US" smtClean="0"/>
              <a:t>3/31/2025</a:t>
            </a:fld>
            <a:endParaRPr lang="en-US"/>
          </a:p>
        </p:txBody>
      </p:sp>
      <p:sp>
        <p:nvSpPr>
          <p:cNvPr id="8" name="Footer Placeholder 7">
            <a:extLst>
              <a:ext uri="{FF2B5EF4-FFF2-40B4-BE49-F238E27FC236}">
                <a16:creationId xmlns:a16="http://schemas.microsoft.com/office/drawing/2014/main" id="{F8CEF6BA-50CD-532C-A512-8FDF0765300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7E8988A-7D1C-2345-BB50-F74804707C5E}"/>
              </a:ext>
            </a:extLst>
          </p:cNvPr>
          <p:cNvSpPr>
            <a:spLocks noGrp="1"/>
          </p:cNvSpPr>
          <p:nvPr>
            <p:ph type="sldNum" sz="quarter" idx="12"/>
          </p:nvPr>
        </p:nvSpPr>
        <p:spPr/>
        <p:txBody>
          <a:bodyPr/>
          <a:lstStyle/>
          <a:p>
            <a:fld id="{4665799B-5D2B-411A-885A-F229DEFBE1F1}" type="slidenum">
              <a:rPr lang="en-US" smtClean="0"/>
              <a:t>‹#›</a:t>
            </a:fld>
            <a:endParaRPr lang="en-US"/>
          </a:p>
        </p:txBody>
      </p:sp>
    </p:spTree>
    <p:extLst>
      <p:ext uri="{BB962C8B-B14F-4D97-AF65-F5344CB8AC3E}">
        <p14:creationId xmlns:p14="http://schemas.microsoft.com/office/powerpoint/2010/main" val="1918343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A1AA9-4022-4BAA-2175-393706D5597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2CE4454-A0AE-C848-B7F3-09549093B1D8}"/>
              </a:ext>
            </a:extLst>
          </p:cNvPr>
          <p:cNvSpPr>
            <a:spLocks noGrp="1"/>
          </p:cNvSpPr>
          <p:nvPr>
            <p:ph type="dt" sz="half" idx="10"/>
          </p:nvPr>
        </p:nvSpPr>
        <p:spPr/>
        <p:txBody>
          <a:bodyPr/>
          <a:lstStyle/>
          <a:p>
            <a:fld id="{563D30D3-4A12-4A65-B4C5-27183B6C7470}" type="datetimeFigureOut">
              <a:rPr lang="en-US" smtClean="0"/>
              <a:t>3/31/2025</a:t>
            </a:fld>
            <a:endParaRPr lang="en-US"/>
          </a:p>
        </p:txBody>
      </p:sp>
      <p:sp>
        <p:nvSpPr>
          <p:cNvPr id="4" name="Footer Placeholder 3">
            <a:extLst>
              <a:ext uri="{FF2B5EF4-FFF2-40B4-BE49-F238E27FC236}">
                <a16:creationId xmlns:a16="http://schemas.microsoft.com/office/drawing/2014/main" id="{20D504D5-148F-8E15-99CE-AB34D651CB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722E9D1-4C01-99A7-A413-40D4CB295944}"/>
              </a:ext>
            </a:extLst>
          </p:cNvPr>
          <p:cNvSpPr>
            <a:spLocks noGrp="1"/>
          </p:cNvSpPr>
          <p:nvPr>
            <p:ph type="sldNum" sz="quarter" idx="12"/>
          </p:nvPr>
        </p:nvSpPr>
        <p:spPr/>
        <p:txBody>
          <a:bodyPr/>
          <a:lstStyle/>
          <a:p>
            <a:fld id="{4665799B-5D2B-411A-885A-F229DEFBE1F1}" type="slidenum">
              <a:rPr lang="en-US" smtClean="0"/>
              <a:t>‹#›</a:t>
            </a:fld>
            <a:endParaRPr lang="en-US"/>
          </a:p>
        </p:txBody>
      </p:sp>
    </p:spTree>
    <p:extLst>
      <p:ext uri="{BB962C8B-B14F-4D97-AF65-F5344CB8AC3E}">
        <p14:creationId xmlns:p14="http://schemas.microsoft.com/office/powerpoint/2010/main" val="70458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3ABC74-BB54-3822-0C17-4DCCE44A1F44}"/>
              </a:ext>
            </a:extLst>
          </p:cNvPr>
          <p:cNvSpPr>
            <a:spLocks noGrp="1"/>
          </p:cNvSpPr>
          <p:nvPr>
            <p:ph type="dt" sz="half" idx="10"/>
          </p:nvPr>
        </p:nvSpPr>
        <p:spPr/>
        <p:txBody>
          <a:bodyPr/>
          <a:lstStyle/>
          <a:p>
            <a:fld id="{563D30D3-4A12-4A65-B4C5-27183B6C7470}" type="datetimeFigureOut">
              <a:rPr lang="en-US" smtClean="0"/>
              <a:t>3/31/2025</a:t>
            </a:fld>
            <a:endParaRPr lang="en-US"/>
          </a:p>
        </p:txBody>
      </p:sp>
      <p:sp>
        <p:nvSpPr>
          <p:cNvPr id="3" name="Footer Placeholder 2">
            <a:extLst>
              <a:ext uri="{FF2B5EF4-FFF2-40B4-BE49-F238E27FC236}">
                <a16:creationId xmlns:a16="http://schemas.microsoft.com/office/drawing/2014/main" id="{121C8C61-5A46-0265-0860-D8C91D6F6BE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E26380-BC79-A3EE-2CB3-801FA0B4062E}"/>
              </a:ext>
            </a:extLst>
          </p:cNvPr>
          <p:cNvSpPr>
            <a:spLocks noGrp="1"/>
          </p:cNvSpPr>
          <p:nvPr>
            <p:ph type="sldNum" sz="quarter" idx="12"/>
          </p:nvPr>
        </p:nvSpPr>
        <p:spPr/>
        <p:txBody>
          <a:bodyPr/>
          <a:lstStyle/>
          <a:p>
            <a:fld id="{4665799B-5D2B-411A-885A-F229DEFBE1F1}" type="slidenum">
              <a:rPr lang="en-US" smtClean="0"/>
              <a:t>‹#›</a:t>
            </a:fld>
            <a:endParaRPr lang="en-US"/>
          </a:p>
        </p:txBody>
      </p:sp>
    </p:spTree>
    <p:extLst>
      <p:ext uri="{BB962C8B-B14F-4D97-AF65-F5344CB8AC3E}">
        <p14:creationId xmlns:p14="http://schemas.microsoft.com/office/powerpoint/2010/main" val="1591895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5210C-D7AE-06D9-E490-384309D43A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52E2BBD-AAE7-168F-DAA8-BA3A83B8EA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4B6665-A1DB-A2E0-3E3F-106520E333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1F9154-1298-CCF7-2FB8-77F208160F0E}"/>
              </a:ext>
            </a:extLst>
          </p:cNvPr>
          <p:cNvSpPr>
            <a:spLocks noGrp="1"/>
          </p:cNvSpPr>
          <p:nvPr>
            <p:ph type="dt" sz="half" idx="10"/>
          </p:nvPr>
        </p:nvSpPr>
        <p:spPr/>
        <p:txBody>
          <a:bodyPr/>
          <a:lstStyle/>
          <a:p>
            <a:fld id="{563D30D3-4A12-4A65-B4C5-27183B6C7470}" type="datetimeFigureOut">
              <a:rPr lang="en-US" smtClean="0"/>
              <a:t>3/31/2025</a:t>
            </a:fld>
            <a:endParaRPr lang="en-US"/>
          </a:p>
        </p:txBody>
      </p:sp>
      <p:sp>
        <p:nvSpPr>
          <p:cNvPr id="6" name="Footer Placeholder 5">
            <a:extLst>
              <a:ext uri="{FF2B5EF4-FFF2-40B4-BE49-F238E27FC236}">
                <a16:creationId xmlns:a16="http://schemas.microsoft.com/office/drawing/2014/main" id="{7334EDED-DAB7-44F6-B787-836E38035A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9F2B4D-189E-EE5F-6B33-0F1462B5D9F6}"/>
              </a:ext>
            </a:extLst>
          </p:cNvPr>
          <p:cNvSpPr>
            <a:spLocks noGrp="1"/>
          </p:cNvSpPr>
          <p:nvPr>
            <p:ph type="sldNum" sz="quarter" idx="12"/>
          </p:nvPr>
        </p:nvSpPr>
        <p:spPr/>
        <p:txBody>
          <a:bodyPr/>
          <a:lstStyle/>
          <a:p>
            <a:fld id="{4665799B-5D2B-411A-885A-F229DEFBE1F1}" type="slidenum">
              <a:rPr lang="en-US" smtClean="0"/>
              <a:t>‹#›</a:t>
            </a:fld>
            <a:endParaRPr lang="en-US"/>
          </a:p>
        </p:txBody>
      </p:sp>
    </p:spTree>
    <p:extLst>
      <p:ext uri="{BB962C8B-B14F-4D97-AF65-F5344CB8AC3E}">
        <p14:creationId xmlns:p14="http://schemas.microsoft.com/office/powerpoint/2010/main" val="957848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22A0D-260B-08B2-6409-7EE369BB5C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6CAA07-21F2-54B7-4BCB-38D45359FB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AC9F76-C378-E61B-1FB7-B790211951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E0D984-A786-6CCC-DC1C-9B1A498C9FCB}"/>
              </a:ext>
            </a:extLst>
          </p:cNvPr>
          <p:cNvSpPr>
            <a:spLocks noGrp="1"/>
          </p:cNvSpPr>
          <p:nvPr>
            <p:ph type="dt" sz="half" idx="10"/>
          </p:nvPr>
        </p:nvSpPr>
        <p:spPr/>
        <p:txBody>
          <a:bodyPr/>
          <a:lstStyle/>
          <a:p>
            <a:fld id="{563D30D3-4A12-4A65-B4C5-27183B6C7470}" type="datetimeFigureOut">
              <a:rPr lang="en-US" smtClean="0"/>
              <a:t>3/31/2025</a:t>
            </a:fld>
            <a:endParaRPr lang="en-US"/>
          </a:p>
        </p:txBody>
      </p:sp>
      <p:sp>
        <p:nvSpPr>
          <p:cNvPr id="6" name="Footer Placeholder 5">
            <a:extLst>
              <a:ext uri="{FF2B5EF4-FFF2-40B4-BE49-F238E27FC236}">
                <a16:creationId xmlns:a16="http://schemas.microsoft.com/office/drawing/2014/main" id="{E9115588-F413-9070-E122-83F7E9BCFB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802305-9070-C530-3C0B-A8F39F992701}"/>
              </a:ext>
            </a:extLst>
          </p:cNvPr>
          <p:cNvSpPr>
            <a:spLocks noGrp="1"/>
          </p:cNvSpPr>
          <p:nvPr>
            <p:ph type="sldNum" sz="quarter" idx="12"/>
          </p:nvPr>
        </p:nvSpPr>
        <p:spPr/>
        <p:txBody>
          <a:bodyPr/>
          <a:lstStyle/>
          <a:p>
            <a:fld id="{4665799B-5D2B-411A-885A-F229DEFBE1F1}" type="slidenum">
              <a:rPr lang="en-US" smtClean="0"/>
              <a:t>‹#›</a:t>
            </a:fld>
            <a:endParaRPr lang="en-US"/>
          </a:p>
        </p:txBody>
      </p:sp>
    </p:spTree>
    <p:extLst>
      <p:ext uri="{BB962C8B-B14F-4D97-AF65-F5344CB8AC3E}">
        <p14:creationId xmlns:p14="http://schemas.microsoft.com/office/powerpoint/2010/main" val="2759290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C129B-61E5-1FC4-DAA7-9FA9CB1A991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75EEAFB-70CE-CD00-2C44-2498246D32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C6F421-0488-1D6A-DE91-A7C5B2417263}"/>
              </a:ext>
            </a:extLst>
          </p:cNvPr>
          <p:cNvSpPr>
            <a:spLocks noGrp="1"/>
          </p:cNvSpPr>
          <p:nvPr>
            <p:ph type="dt" sz="half" idx="10"/>
          </p:nvPr>
        </p:nvSpPr>
        <p:spPr/>
        <p:txBody>
          <a:bodyPr/>
          <a:lstStyle/>
          <a:p>
            <a:fld id="{563D30D3-4A12-4A65-B4C5-27183B6C7470}" type="datetimeFigureOut">
              <a:rPr lang="en-US" smtClean="0"/>
              <a:t>3/31/2025</a:t>
            </a:fld>
            <a:endParaRPr lang="en-US"/>
          </a:p>
        </p:txBody>
      </p:sp>
      <p:sp>
        <p:nvSpPr>
          <p:cNvPr id="5" name="Footer Placeholder 4">
            <a:extLst>
              <a:ext uri="{FF2B5EF4-FFF2-40B4-BE49-F238E27FC236}">
                <a16:creationId xmlns:a16="http://schemas.microsoft.com/office/drawing/2014/main" id="{7A9179BD-AFEB-3F00-2853-BABF174945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2E0D5D-5B9D-AC90-6C08-090847938D74}"/>
              </a:ext>
            </a:extLst>
          </p:cNvPr>
          <p:cNvSpPr>
            <a:spLocks noGrp="1"/>
          </p:cNvSpPr>
          <p:nvPr>
            <p:ph type="sldNum" sz="quarter" idx="12"/>
          </p:nvPr>
        </p:nvSpPr>
        <p:spPr/>
        <p:txBody>
          <a:bodyPr/>
          <a:lstStyle/>
          <a:p>
            <a:fld id="{4665799B-5D2B-411A-885A-F229DEFBE1F1}" type="slidenum">
              <a:rPr lang="en-US" smtClean="0"/>
              <a:t>‹#›</a:t>
            </a:fld>
            <a:endParaRPr lang="en-US"/>
          </a:p>
        </p:txBody>
      </p:sp>
    </p:spTree>
    <p:extLst>
      <p:ext uri="{BB962C8B-B14F-4D97-AF65-F5344CB8AC3E}">
        <p14:creationId xmlns:p14="http://schemas.microsoft.com/office/powerpoint/2010/main" val="902219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DE0186-B3BF-267F-A73B-F553D71B76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A8DB71-3C25-D064-4769-60EEA18380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FCF0FB-CA5E-2049-9B83-CDA50A72198F}"/>
              </a:ext>
            </a:extLst>
          </p:cNvPr>
          <p:cNvSpPr>
            <a:spLocks noGrp="1"/>
          </p:cNvSpPr>
          <p:nvPr>
            <p:ph type="dt" sz="half" idx="10"/>
          </p:nvPr>
        </p:nvSpPr>
        <p:spPr/>
        <p:txBody>
          <a:bodyPr/>
          <a:lstStyle/>
          <a:p>
            <a:fld id="{563D30D3-4A12-4A65-B4C5-27183B6C7470}" type="datetimeFigureOut">
              <a:rPr lang="en-US" smtClean="0"/>
              <a:t>3/31/2025</a:t>
            </a:fld>
            <a:endParaRPr lang="en-US"/>
          </a:p>
        </p:txBody>
      </p:sp>
      <p:sp>
        <p:nvSpPr>
          <p:cNvPr id="5" name="Footer Placeholder 4">
            <a:extLst>
              <a:ext uri="{FF2B5EF4-FFF2-40B4-BE49-F238E27FC236}">
                <a16:creationId xmlns:a16="http://schemas.microsoft.com/office/drawing/2014/main" id="{AAFEAD97-C1DF-67FF-87DB-3CA1117A00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27FE49-5569-9A7E-13B1-8E20CBFF39D0}"/>
              </a:ext>
            </a:extLst>
          </p:cNvPr>
          <p:cNvSpPr>
            <a:spLocks noGrp="1"/>
          </p:cNvSpPr>
          <p:nvPr>
            <p:ph type="sldNum" sz="quarter" idx="12"/>
          </p:nvPr>
        </p:nvSpPr>
        <p:spPr/>
        <p:txBody>
          <a:bodyPr/>
          <a:lstStyle/>
          <a:p>
            <a:fld id="{4665799B-5D2B-411A-885A-F229DEFBE1F1}" type="slidenum">
              <a:rPr lang="en-US" smtClean="0"/>
              <a:t>‹#›</a:t>
            </a:fld>
            <a:endParaRPr lang="en-US"/>
          </a:p>
        </p:txBody>
      </p:sp>
    </p:spTree>
    <p:extLst>
      <p:ext uri="{BB962C8B-B14F-4D97-AF65-F5344CB8AC3E}">
        <p14:creationId xmlns:p14="http://schemas.microsoft.com/office/powerpoint/2010/main" val="3866973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DCFD00-856F-7B96-353C-637F8BB24F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D56D76C-A3E0-6E12-1215-A4E6E534A0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ABCBBC-254F-1CE4-A87C-AF04794A3D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3D30D3-4A12-4A65-B4C5-27183B6C7470}" type="datetimeFigureOut">
              <a:rPr lang="en-US" smtClean="0"/>
              <a:t>3/31/2025</a:t>
            </a:fld>
            <a:endParaRPr lang="en-US"/>
          </a:p>
        </p:txBody>
      </p:sp>
      <p:sp>
        <p:nvSpPr>
          <p:cNvPr id="5" name="Footer Placeholder 4">
            <a:extLst>
              <a:ext uri="{FF2B5EF4-FFF2-40B4-BE49-F238E27FC236}">
                <a16:creationId xmlns:a16="http://schemas.microsoft.com/office/drawing/2014/main" id="{C274503A-BA3E-3A99-ACD4-EEDB8C07B3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7A1B8B4-8E0F-890D-9399-3A52175CA3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65799B-5D2B-411A-885A-F229DEFBE1F1}" type="slidenum">
              <a:rPr lang="en-US" smtClean="0"/>
              <a:t>‹#›</a:t>
            </a:fld>
            <a:endParaRPr lang="en-US"/>
          </a:p>
        </p:txBody>
      </p:sp>
    </p:spTree>
    <p:extLst>
      <p:ext uri="{BB962C8B-B14F-4D97-AF65-F5344CB8AC3E}">
        <p14:creationId xmlns:p14="http://schemas.microsoft.com/office/powerpoint/2010/main" val="6155946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6EAA2-E989-F622-A732-44D3BA98E122}"/>
              </a:ext>
            </a:extLst>
          </p:cNvPr>
          <p:cNvSpPr>
            <a:spLocks noGrp="1"/>
          </p:cNvSpPr>
          <p:nvPr>
            <p:ph type="ctrTitle"/>
          </p:nvPr>
        </p:nvSpPr>
        <p:spPr/>
        <p:txBody>
          <a:bodyPr/>
          <a:lstStyle/>
          <a:p>
            <a:r>
              <a:rPr lang="en-US" dirty="0"/>
              <a:t>Secure Data access</a:t>
            </a:r>
          </a:p>
        </p:txBody>
      </p:sp>
      <p:sp>
        <p:nvSpPr>
          <p:cNvPr id="3" name="Subtitle 2">
            <a:extLst>
              <a:ext uri="{FF2B5EF4-FFF2-40B4-BE49-F238E27FC236}">
                <a16:creationId xmlns:a16="http://schemas.microsoft.com/office/drawing/2014/main" id="{DD0F612A-D3F4-E9D4-E721-A4B39EA111F1}"/>
              </a:ext>
            </a:extLst>
          </p:cNvPr>
          <p:cNvSpPr>
            <a:spLocks noGrp="1"/>
          </p:cNvSpPr>
          <p:nvPr>
            <p:ph type="subTitle" idx="1"/>
          </p:nvPr>
        </p:nvSpPr>
        <p:spPr/>
        <p:txBody>
          <a:bodyPr/>
          <a:lstStyle/>
          <a:p>
            <a:r>
              <a:rPr lang="en-US" dirty="0"/>
              <a:t>Microsoft Fabric</a:t>
            </a:r>
          </a:p>
        </p:txBody>
      </p:sp>
    </p:spTree>
    <p:extLst>
      <p:ext uri="{BB962C8B-B14F-4D97-AF65-F5344CB8AC3E}">
        <p14:creationId xmlns:p14="http://schemas.microsoft.com/office/powerpoint/2010/main" val="2602455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F509A-C021-3622-C472-CDDFF130AEEC}"/>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C16C6C15-847A-3A2E-D76B-A9A4BF5D6AB7}"/>
              </a:ext>
            </a:extLst>
          </p:cNvPr>
          <p:cNvSpPr>
            <a:spLocks noGrp="1"/>
          </p:cNvSpPr>
          <p:nvPr>
            <p:ph idx="1"/>
          </p:nvPr>
        </p:nvSpPr>
        <p:spPr/>
        <p:txBody>
          <a:bodyPr>
            <a:normAutofit fontScale="92500"/>
          </a:bodyPr>
          <a:lstStyle/>
          <a:p>
            <a:r>
              <a:rPr lang="en-US" b="0" i="0" dirty="0">
                <a:solidFill>
                  <a:srgbClr val="161616"/>
                </a:solidFill>
                <a:effectLst/>
                <a:latin typeface="Segoe UI" panose="020B0502040204020203" pitchFamily="34" charset="0"/>
              </a:rPr>
              <a:t>Security in Microsoft Fabric is optimized for securing data for specific use cases. Different users need the ability to perform various actions in Fabric to fulfill their job responsibilities. </a:t>
            </a:r>
          </a:p>
          <a:p>
            <a:r>
              <a:rPr lang="en-US" b="0" i="0" dirty="0">
                <a:solidFill>
                  <a:srgbClr val="161616"/>
                </a:solidFill>
                <a:effectLst/>
                <a:latin typeface="Segoe UI" panose="020B0502040204020203" pitchFamily="34" charset="0"/>
              </a:rPr>
              <a:t>Fabric facilitates this by allowing you to grant users access to specific data workloads through workspace and item permissions, compute permissions, and </a:t>
            </a:r>
            <a:r>
              <a:rPr lang="en-US" b="0" i="0" dirty="0" err="1">
                <a:solidFill>
                  <a:srgbClr val="161616"/>
                </a:solidFill>
                <a:effectLst/>
                <a:latin typeface="Segoe UI" panose="020B0502040204020203" pitchFamily="34" charset="0"/>
              </a:rPr>
              <a:t>OneLake</a:t>
            </a:r>
            <a:r>
              <a:rPr lang="en-US" b="0" i="0" dirty="0">
                <a:solidFill>
                  <a:srgbClr val="161616"/>
                </a:solidFill>
                <a:effectLst/>
                <a:latin typeface="Segoe UI" panose="020B0502040204020203" pitchFamily="34" charset="0"/>
              </a:rPr>
              <a:t> data access roles</a:t>
            </a:r>
          </a:p>
          <a:p>
            <a:r>
              <a:rPr lang="en-US" b="0" i="0" dirty="0">
                <a:solidFill>
                  <a:srgbClr val="161616"/>
                </a:solidFill>
                <a:effectLst/>
                <a:latin typeface="Segoe UI" panose="020B0502040204020203" pitchFamily="34" charset="0"/>
              </a:rPr>
              <a:t>In this module, you'll learn how to use the Fabric access control features available to secure your data and provide your team with the necessary access within Fabric to perform their job duties. You'll explore Fabric’s multi-layer security model and how to use it to manage data access</a:t>
            </a:r>
            <a:endParaRPr lang="en-US" dirty="0"/>
          </a:p>
        </p:txBody>
      </p:sp>
    </p:spTree>
    <p:extLst>
      <p:ext uri="{BB962C8B-B14F-4D97-AF65-F5344CB8AC3E}">
        <p14:creationId xmlns:p14="http://schemas.microsoft.com/office/powerpoint/2010/main" val="3682375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13E51-3061-1343-6262-66F7FBFD2E59}"/>
              </a:ext>
            </a:extLst>
          </p:cNvPr>
          <p:cNvSpPr>
            <a:spLocks noGrp="1"/>
          </p:cNvSpPr>
          <p:nvPr>
            <p:ph type="title"/>
          </p:nvPr>
        </p:nvSpPr>
        <p:spPr/>
        <p:txBody>
          <a:bodyPr/>
          <a:lstStyle/>
          <a:p>
            <a:r>
              <a:rPr lang="en-US" dirty="0"/>
              <a:t>Secure</a:t>
            </a:r>
            <a:r>
              <a:rPr lang="en-US" b="1" i="0" dirty="0">
                <a:solidFill>
                  <a:srgbClr val="161616"/>
                </a:solidFill>
                <a:effectLst/>
                <a:latin typeface="Segoe UI" panose="020B0502040204020203" pitchFamily="34" charset="0"/>
              </a:rPr>
              <a:t> </a:t>
            </a:r>
            <a:r>
              <a:rPr lang="en-US" dirty="0"/>
              <a:t>data by use case</a:t>
            </a:r>
          </a:p>
        </p:txBody>
      </p:sp>
      <p:sp>
        <p:nvSpPr>
          <p:cNvPr id="3" name="Content Placeholder 2">
            <a:extLst>
              <a:ext uri="{FF2B5EF4-FFF2-40B4-BE49-F238E27FC236}">
                <a16:creationId xmlns:a16="http://schemas.microsoft.com/office/drawing/2014/main" id="{8CBD6863-DAD3-8402-9688-EB31353FDB1F}"/>
              </a:ext>
            </a:extLst>
          </p:cNvPr>
          <p:cNvSpPr>
            <a:spLocks noGrp="1"/>
          </p:cNvSpPr>
          <p:nvPr>
            <p:ph idx="1"/>
          </p:nvPr>
        </p:nvSpPr>
        <p:spPr/>
        <p:txBody>
          <a:bodyPr>
            <a:normAutofit fontScale="77500" lnSpcReduction="20000"/>
          </a:bodyPr>
          <a:lstStyle/>
          <a:p>
            <a:r>
              <a:rPr lang="en-US" b="0" i="0" dirty="0">
                <a:solidFill>
                  <a:srgbClr val="161616"/>
                </a:solidFill>
                <a:effectLst/>
                <a:latin typeface="Segoe UI" panose="020B0502040204020203" pitchFamily="34" charset="0"/>
              </a:rPr>
              <a:t>Different users within your company or partner organizations need to view, transform, analyze, aggregate, and use this data to derive business insights. Users need access to different Fabric compute engines, items, and workspaces to perform their jobs effectively:</a:t>
            </a:r>
          </a:p>
          <a:p>
            <a:pPr algn="l">
              <a:spcBef>
                <a:spcPts val="1200"/>
              </a:spcBef>
              <a:spcAft>
                <a:spcPts val="1200"/>
              </a:spcAft>
              <a:buFont typeface="Arial" panose="020B0604020202020204" pitchFamily="34" charset="0"/>
              <a:buChar char="•"/>
            </a:pPr>
            <a:r>
              <a:rPr lang="en-US" b="1" i="0" dirty="0">
                <a:solidFill>
                  <a:srgbClr val="161616"/>
                </a:solidFill>
                <a:effectLst/>
                <a:latin typeface="Segoe UI" panose="020B0502040204020203" pitchFamily="34" charset="0"/>
              </a:rPr>
              <a:t>Data engineers</a:t>
            </a:r>
            <a:r>
              <a:rPr lang="en-US" b="0" i="0" dirty="0">
                <a:solidFill>
                  <a:srgbClr val="161616"/>
                </a:solidFill>
                <a:effectLst/>
                <a:latin typeface="Segoe UI" panose="020B0502040204020203" pitchFamily="34" charset="0"/>
              </a:rPr>
              <a:t> need access to data in a </a:t>
            </a:r>
            <a:r>
              <a:rPr lang="en-US" b="0" i="0" dirty="0" err="1">
                <a:solidFill>
                  <a:srgbClr val="161616"/>
                </a:solidFill>
                <a:effectLst/>
                <a:latin typeface="Segoe UI" panose="020B0502040204020203" pitchFamily="34" charset="0"/>
              </a:rPr>
              <a:t>lakehouse</a:t>
            </a:r>
            <a:r>
              <a:rPr lang="en-US" b="0" i="0" dirty="0">
                <a:solidFill>
                  <a:srgbClr val="161616"/>
                </a:solidFill>
                <a:effectLst/>
                <a:latin typeface="Segoe UI" panose="020B0502040204020203" pitchFamily="34" charset="0"/>
              </a:rPr>
              <a:t> to develop downstream data products.</a:t>
            </a:r>
          </a:p>
          <a:p>
            <a:pPr algn="l">
              <a:spcBef>
                <a:spcPts val="1200"/>
              </a:spcBef>
              <a:spcAft>
                <a:spcPts val="1200"/>
              </a:spcAft>
              <a:buFont typeface="Arial" panose="020B0604020202020204" pitchFamily="34" charset="0"/>
              <a:buChar char="•"/>
            </a:pPr>
            <a:r>
              <a:rPr lang="en-US" b="1" i="0" dirty="0">
                <a:solidFill>
                  <a:srgbClr val="161616"/>
                </a:solidFill>
                <a:effectLst/>
                <a:latin typeface="Segoe UI" panose="020B0502040204020203" pitchFamily="34" charset="0"/>
              </a:rPr>
              <a:t>Business or data analysts</a:t>
            </a:r>
            <a:r>
              <a:rPr lang="en-US" b="0" i="0" dirty="0">
                <a:solidFill>
                  <a:srgbClr val="161616"/>
                </a:solidFill>
                <a:effectLst/>
                <a:latin typeface="Segoe UI" panose="020B0502040204020203" pitchFamily="34" charset="0"/>
              </a:rPr>
              <a:t> need to query data to answer business questions.</a:t>
            </a:r>
          </a:p>
          <a:p>
            <a:pPr algn="l">
              <a:spcBef>
                <a:spcPts val="1200"/>
              </a:spcBef>
              <a:spcAft>
                <a:spcPts val="1200"/>
              </a:spcAft>
              <a:buFont typeface="Arial" panose="020B0604020202020204" pitchFamily="34" charset="0"/>
              <a:buChar char="•"/>
            </a:pPr>
            <a:r>
              <a:rPr lang="en-US" b="1" i="0" dirty="0">
                <a:solidFill>
                  <a:srgbClr val="161616"/>
                </a:solidFill>
                <a:effectLst/>
                <a:latin typeface="Segoe UI" panose="020B0502040204020203" pitchFamily="34" charset="0"/>
              </a:rPr>
              <a:t>Data scientists</a:t>
            </a:r>
            <a:r>
              <a:rPr lang="en-US" b="0" i="0" dirty="0">
                <a:solidFill>
                  <a:srgbClr val="161616"/>
                </a:solidFill>
                <a:effectLst/>
                <a:latin typeface="Segoe UI" panose="020B0502040204020203" pitchFamily="34" charset="0"/>
              </a:rPr>
              <a:t> need to access data in a </a:t>
            </a:r>
            <a:r>
              <a:rPr lang="en-US" b="0" i="0" dirty="0" err="1">
                <a:solidFill>
                  <a:srgbClr val="161616"/>
                </a:solidFill>
                <a:effectLst/>
                <a:latin typeface="Segoe UI" panose="020B0502040204020203" pitchFamily="34" charset="0"/>
              </a:rPr>
              <a:t>lakehouse</a:t>
            </a:r>
            <a:r>
              <a:rPr lang="en-US" b="0" i="0" dirty="0">
                <a:solidFill>
                  <a:srgbClr val="161616"/>
                </a:solidFill>
                <a:effectLst/>
                <a:latin typeface="Segoe UI" panose="020B0502040204020203" pitchFamily="34" charset="0"/>
              </a:rPr>
              <a:t> and consume it through Apache Spark to create models and experiments.</a:t>
            </a:r>
          </a:p>
          <a:p>
            <a:pPr algn="l">
              <a:spcBef>
                <a:spcPts val="1200"/>
              </a:spcBef>
              <a:spcAft>
                <a:spcPts val="1200"/>
              </a:spcAft>
              <a:buFont typeface="Arial" panose="020B0604020202020204" pitchFamily="34" charset="0"/>
              <a:buChar char="•"/>
            </a:pPr>
            <a:r>
              <a:rPr lang="en-US" b="1" i="0" dirty="0">
                <a:solidFill>
                  <a:srgbClr val="161616"/>
                </a:solidFill>
                <a:effectLst/>
                <a:latin typeface="Segoe UI" panose="020B0502040204020203" pitchFamily="34" charset="0"/>
              </a:rPr>
              <a:t>Report creators</a:t>
            </a:r>
            <a:r>
              <a:rPr lang="en-US" b="0" i="0" dirty="0">
                <a:solidFill>
                  <a:srgbClr val="161616"/>
                </a:solidFill>
                <a:effectLst/>
                <a:latin typeface="Segoe UI" panose="020B0502040204020203" pitchFamily="34" charset="0"/>
              </a:rPr>
              <a:t> need to build reports to share with report consumers.</a:t>
            </a:r>
          </a:p>
          <a:p>
            <a:pPr algn="l">
              <a:spcBef>
                <a:spcPts val="1200"/>
              </a:spcBef>
              <a:spcAft>
                <a:spcPts val="1200"/>
              </a:spcAft>
              <a:buFont typeface="Arial" panose="020B0604020202020204" pitchFamily="34" charset="0"/>
              <a:buChar char="•"/>
            </a:pPr>
            <a:r>
              <a:rPr lang="en-US" b="1" i="0" dirty="0">
                <a:solidFill>
                  <a:srgbClr val="161616"/>
                </a:solidFill>
                <a:effectLst/>
                <a:latin typeface="Segoe UI" panose="020B0502040204020203" pitchFamily="34" charset="0"/>
              </a:rPr>
              <a:t>Report consumers</a:t>
            </a:r>
            <a:r>
              <a:rPr lang="en-US" b="0" i="0" dirty="0">
                <a:solidFill>
                  <a:srgbClr val="161616"/>
                </a:solidFill>
                <a:effectLst/>
                <a:latin typeface="Segoe UI" panose="020B0502040204020203" pitchFamily="34" charset="0"/>
              </a:rPr>
              <a:t> need to view data in Power BI reports to make decisions.</a:t>
            </a:r>
          </a:p>
        </p:txBody>
      </p:sp>
    </p:spTree>
    <p:extLst>
      <p:ext uri="{BB962C8B-B14F-4D97-AF65-F5344CB8AC3E}">
        <p14:creationId xmlns:p14="http://schemas.microsoft.com/office/powerpoint/2010/main" val="3073845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BCC78-6AA7-E2AD-4DE0-26B3C7D9ADD6}"/>
              </a:ext>
            </a:extLst>
          </p:cNvPr>
          <p:cNvSpPr>
            <a:spLocks noGrp="1"/>
          </p:cNvSpPr>
          <p:nvPr>
            <p:ph type="title"/>
          </p:nvPr>
        </p:nvSpPr>
        <p:spPr/>
        <p:txBody>
          <a:bodyPr/>
          <a:lstStyle/>
          <a:p>
            <a:r>
              <a:rPr lang="en-US" dirty="0"/>
              <a:t>Security level</a:t>
            </a:r>
          </a:p>
        </p:txBody>
      </p:sp>
      <p:sp>
        <p:nvSpPr>
          <p:cNvPr id="3" name="Content Placeholder 2">
            <a:extLst>
              <a:ext uri="{FF2B5EF4-FFF2-40B4-BE49-F238E27FC236}">
                <a16:creationId xmlns:a16="http://schemas.microsoft.com/office/drawing/2014/main" id="{37DDF396-69C3-A49C-0983-A02216DFEAF6}"/>
              </a:ext>
            </a:extLst>
          </p:cNvPr>
          <p:cNvSpPr>
            <a:spLocks noGrp="1"/>
          </p:cNvSpPr>
          <p:nvPr>
            <p:ph idx="1"/>
          </p:nvPr>
        </p:nvSpPr>
        <p:spPr>
          <a:xfrm>
            <a:off x="567267" y="1690688"/>
            <a:ext cx="11184466" cy="4481512"/>
          </a:xfrm>
        </p:spPr>
        <p:txBody>
          <a:bodyPr>
            <a:normAutofit fontScale="25000" lnSpcReduction="20000"/>
          </a:bodyPr>
          <a:lstStyle/>
          <a:p>
            <a:pPr marL="0" indent="0" algn="l">
              <a:lnSpc>
                <a:spcPct val="120000"/>
              </a:lnSpc>
              <a:spcBef>
                <a:spcPts val="1200"/>
              </a:spcBef>
              <a:spcAft>
                <a:spcPts val="1200"/>
              </a:spcAft>
              <a:buNone/>
            </a:pPr>
            <a:r>
              <a:rPr lang="en-US" sz="8800" dirty="0">
                <a:solidFill>
                  <a:srgbClr val="161616"/>
                </a:solidFill>
                <a:latin typeface="Segoe UI" panose="020B0502040204020203" pitchFamily="34" charset="0"/>
              </a:rPr>
              <a:t>Fabric has three security levels and they're evaluated sequentially to determine whether a user has data access. The order of evaluation for access is:</a:t>
            </a:r>
          </a:p>
          <a:p>
            <a:pPr algn="l">
              <a:lnSpc>
                <a:spcPct val="120000"/>
              </a:lnSpc>
              <a:spcBef>
                <a:spcPts val="1200"/>
              </a:spcBef>
              <a:spcAft>
                <a:spcPts val="1200"/>
              </a:spcAft>
              <a:buFont typeface="+mj-lt"/>
              <a:buAutoNum type="arabicPeriod"/>
            </a:pPr>
            <a:r>
              <a:rPr lang="en-US" sz="8800" dirty="0">
                <a:solidFill>
                  <a:srgbClr val="161616"/>
                </a:solidFill>
                <a:latin typeface="Segoe UI" panose="020B0502040204020203" pitchFamily="34" charset="0"/>
              </a:rPr>
              <a:t>Microsoft Entra ID authentication: checks if the user can authenticate to the Azure identity and access management service, Microsoft Entra ID</a:t>
            </a:r>
          </a:p>
          <a:p>
            <a:pPr algn="l">
              <a:lnSpc>
                <a:spcPct val="120000"/>
              </a:lnSpc>
              <a:spcBef>
                <a:spcPts val="1200"/>
              </a:spcBef>
              <a:spcAft>
                <a:spcPts val="1200"/>
              </a:spcAft>
              <a:buFont typeface="+mj-lt"/>
              <a:buAutoNum type="arabicPeriod"/>
            </a:pPr>
            <a:r>
              <a:rPr lang="en-US" sz="8800" dirty="0">
                <a:solidFill>
                  <a:srgbClr val="161616"/>
                </a:solidFill>
                <a:latin typeface="Segoe UI" panose="020B0502040204020203" pitchFamily="34" charset="0"/>
              </a:rPr>
              <a:t>Fabric access: checks if the user can access Fabric.</a:t>
            </a:r>
          </a:p>
          <a:p>
            <a:pPr algn="l">
              <a:lnSpc>
                <a:spcPct val="120000"/>
              </a:lnSpc>
              <a:spcBef>
                <a:spcPts val="1200"/>
              </a:spcBef>
              <a:spcAft>
                <a:spcPts val="1200"/>
              </a:spcAft>
              <a:buFont typeface="+mj-lt"/>
              <a:buAutoNum type="arabicPeriod"/>
            </a:pPr>
            <a:r>
              <a:rPr lang="en-US" sz="8800" dirty="0">
                <a:solidFill>
                  <a:srgbClr val="161616"/>
                </a:solidFill>
                <a:latin typeface="Segoe UI" panose="020B0502040204020203" pitchFamily="34" charset="0"/>
              </a:rPr>
              <a:t>Data security: checks if the user can perform the action they've requested on a table or file.</a:t>
            </a:r>
          </a:p>
          <a:p>
            <a:pPr marL="0" indent="0" algn="l">
              <a:spcBef>
                <a:spcPts val="1200"/>
              </a:spcBef>
              <a:spcAft>
                <a:spcPts val="1200"/>
              </a:spcAft>
              <a:buNone/>
            </a:pPr>
            <a:endParaRPr lang="en-US" b="0" i="0" dirty="0">
              <a:solidFill>
                <a:srgbClr val="161616"/>
              </a:solidFill>
              <a:effectLst/>
              <a:latin typeface="Segoe UI" panose="020B0502040204020203" pitchFamily="34" charset="0"/>
            </a:endParaRPr>
          </a:p>
          <a:p>
            <a:endParaRPr lang="en-US" dirty="0"/>
          </a:p>
        </p:txBody>
      </p:sp>
    </p:spTree>
    <p:extLst>
      <p:ext uri="{BB962C8B-B14F-4D97-AF65-F5344CB8AC3E}">
        <p14:creationId xmlns:p14="http://schemas.microsoft.com/office/powerpoint/2010/main" val="3424111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0ADAA-C4B1-2395-2606-FEF8FD4FAE6A}"/>
              </a:ext>
            </a:extLst>
          </p:cNvPr>
          <p:cNvSpPr>
            <a:spLocks noGrp="1"/>
          </p:cNvSpPr>
          <p:nvPr>
            <p:ph type="title"/>
          </p:nvPr>
        </p:nvSpPr>
        <p:spPr/>
        <p:txBody>
          <a:bodyPr/>
          <a:lstStyle/>
          <a:p>
            <a:r>
              <a:rPr lang="en-US" dirty="0"/>
              <a:t>Data security</a:t>
            </a:r>
          </a:p>
        </p:txBody>
      </p:sp>
      <p:sp>
        <p:nvSpPr>
          <p:cNvPr id="3" name="Content Placeholder 2">
            <a:extLst>
              <a:ext uri="{FF2B5EF4-FFF2-40B4-BE49-F238E27FC236}">
                <a16:creationId xmlns:a16="http://schemas.microsoft.com/office/drawing/2014/main" id="{7D2CC671-F1B7-0B93-8846-33482C6515FC}"/>
              </a:ext>
            </a:extLst>
          </p:cNvPr>
          <p:cNvSpPr>
            <a:spLocks noGrp="1"/>
          </p:cNvSpPr>
          <p:nvPr>
            <p:ph idx="1"/>
          </p:nvPr>
        </p:nvSpPr>
        <p:spPr/>
        <p:txBody>
          <a:bodyPr>
            <a:normAutofit fontScale="92500" lnSpcReduction="20000"/>
          </a:bodyPr>
          <a:lstStyle/>
          <a:p>
            <a:pPr marL="0" indent="0" algn="l">
              <a:lnSpc>
                <a:spcPct val="120000"/>
              </a:lnSpc>
              <a:spcBef>
                <a:spcPts val="1200"/>
              </a:spcBef>
              <a:spcAft>
                <a:spcPts val="1200"/>
              </a:spcAft>
              <a:buNone/>
            </a:pPr>
            <a:r>
              <a:rPr lang="en-US" sz="2800" dirty="0">
                <a:solidFill>
                  <a:srgbClr val="161616"/>
                </a:solidFill>
                <a:latin typeface="Segoe UI" panose="020B0502040204020203" pitchFamily="34" charset="0"/>
              </a:rPr>
              <a:t>The third level, data security, has several building blocks that can be configured individually or together to align with different access requirements. The primary access controls in Fabric are:</a:t>
            </a:r>
          </a:p>
          <a:p>
            <a:pPr algn="l">
              <a:lnSpc>
                <a:spcPct val="120000"/>
              </a:lnSpc>
              <a:spcBef>
                <a:spcPts val="1200"/>
              </a:spcBef>
              <a:spcAft>
                <a:spcPts val="1200"/>
              </a:spcAft>
              <a:buFont typeface="Arial" panose="020B0604020202020204" pitchFamily="34" charset="0"/>
              <a:buChar char="•"/>
            </a:pPr>
            <a:r>
              <a:rPr lang="en-US" sz="2800" dirty="0">
                <a:solidFill>
                  <a:srgbClr val="161616"/>
                </a:solidFill>
                <a:latin typeface="Segoe UI" panose="020B0502040204020203" pitchFamily="34" charset="0"/>
              </a:rPr>
              <a:t>Workspace roles</a:t>
            </a:r>
          </a:p>
          <a:p>
            <a:pPr algn="l">
              <a:lnSpc>
                <a:spcPct val="120000"/>
              </a:lnSpc>
              <a:spcBef>
                <a:spcPts val="1200"/>
              </a:spcBef>
              <a:spcAft>
                <a:spcPts val="1200"/>
              </a:spcAft>
              <a:buFont typeface="Arial" panose="020B0604020202020204" pitchFamily="34" charset="0"/>
              <a:buChar char="•"/>
            </a:pPr>
            <a:r>
              <a:rPr lang="en-US" sz="2800" dirty="0">
                <a:solidFill>
                  <a:srgbClr val="161616"/>
                </a:solidFill>
                <a:latin typeface="Segoe UI" panose="020B0502040204020203" pitchFamily="34" charset="0"/>
              </a:rPr>
              <a:t>Item permissions</a:t>
            </a:r>
          </a:p>
          <a:p>
            <a:pPr algn="l">
              <a:lnSpc>
                <a:spcPct val="120000"/>
              </a:lnSpc>
              <a:spcBef>
                <a:spcPts val="1200"/>
              </a:spcBef>
              <a:spcAft>
                <a:spcPts val="1200"/>
              </a:spcAft>
              <a:buFont typeface="Arial" panose="020B0604020202020204" pitchFamily="34" charset="0"/>
              <a:buChar char="•"/>
            </a:pPr>
            <a:r>
              <a:rPr lang="en-US" sz="2800" dirty="0">
                <a:solidFill>
                  <a:srgbClr val="161616"/>
                </a:solidFill>
                <a:latin typeface="Segoe UI" panose="020B0502040204020203" pitchFamily="34" charset="0"/>
              </a:rPr>
              <a:t>Compute or granular permissions</a:t>
            </a:r>
          </a:p>
          <a:p>
            <a:pPr algn="l">
              <a:lnSpc>
                <a:spcPct val="120000"/>
              </a:lnSpc>
              <a:spcBef>
                <a:spcPts val="1200"/>
              </a:spcBef>
              <a:spcAft>
                <a:spcPts val="1200"/>
              </a:spcAft>
              <a:buFont typeface="Arial" panose="020B0604020202020204" pitchFamily="34" charset="0"/>
              <a:buChar char="•"/>
            </a:pPr>
            <a:r>
              <a:rPr lang="en-US" sz="2800" dirty="0" err="1">
                <a:solidFill>
                  <a:srgbClr val="161616"/>
                </a:solidFill>
                <a:latin typeface="Segoe UI" panose="020B0502040204020203" pitchFamily="34" charset="0"/>
              </a:rPr>
              <a:t>OneLake</a:t>
            </a:r>
            <a:r>
              <a:rPr lang="en-US" sz="2800" dirty="0">
                <a:solidFill>
                  <a:srgbClr val="161616"/>
                </a:solidFill>
                <a:latin typeface="Segoe UI" panose="020B0502040204020203" pitchFamily="34" charset="0"/>
              </a:rPr>
              <a:t> data access controls (preview)</a:t>
            </a:r>
          </a:p>
          <a:p>
            <a:endParaRPr lang="en-US" dirty="0"/>
          </a:p>
        </p:txBody>
      </p:sp>
    </p:spTree>
    <p:extLst>
      <p:ext uri="{BB962C8B-B14F-4D97-AF65-F5344CB8AC3E}">
        <p14:creationId xmlns:p14="http://schemas.microsoft.com/office/powerpoint/2010/main" val="55505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reenshot of Fabric access control hierarchy.">
            <a:extLst>
              <a:ext uri="{FF2B5EF4-FFF2-40B4-BE49-F238E27FC236}">
                <a16:creationId xmlns:a16="http://schemas.microsoft.com/office/drawing/2014/main" id="{ABB070B8-FEFF-CCAD-2AFA-5C1C929CFB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571500"/>
            <a:ext cx="6248400"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6634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3678E-06F9-22AA-1195-E384E22C734E}"/>
              </a:ext>
            </a:extLst>
          </p:cNvPr>
          <p:cNvSpPr>
            <a:spLocks noGrp="1"/>
          </p:cNvSpPr>
          <p:nvPr>
            <p:ph type="title"/>
          </p:nvPr>
        </p:nvSpPr>
        <p:spPr/>
        <p:txBody>
          <a:bodyPr/>
          <a:lstStyle/>
          <a:p>
            <a:r>
              <a:rPr lang="en-US" dirty="0"/>
              <a:t>Security </a:t>
            </a:r>
          </a:p>
        </p:txBody>
      </p:sp>
      <p:sp>
        <p:nvSpPr>
          <p:cNvPr id="3" name="Content Placeholder 2">
            <a:extLst>
              <a:ext uri="{FF2B5EF4-FFF2-40B4-BE49-F238E27FC236}">
                <a16:creationId xmlns:a16="http://schemas.microsoft.com/office/drawing/2014/main" id="{B9A8089A-DD32-C408-22C8-A102DEDE4890}"/>
              </a:ext>
            </a:extLst>
          </p:cNvPr>
          <p:cNvSpPr>
            <a:spLocks noGrp="1"/>
          </p:cNvSpPr>
          <p:nvPr>
            <p:ph idx="1"/>
          </p:nvPr>
        </p:nvSpPr>
        <p:spPr/>
        <p:txBody>
          <a:bodyPr>
            <a:normAutofit fontScale="85000" lnSpcReduction="10000"/>
          </a:bodyPr>
          <a:lstStyle/>
          <a:p>
            <a:pPr algn="l">
              <a:buNone/>
            </a:pPr>
            <a:r>
              <a:rPr lang="en-US" b="0" i="0" dirty="0">
                <a:solidFill>
                  <a:srgbClr val="161616"/>
                </a:solidFill>
                <a:effectLst/>
                <a:latin typeface="Segoe UI" panose="020B0502040204020203" pitchFamily="34" charset="0"/>
              </a:rPr>
              <a:t>A </a:t>
            </a:r>
            <a:r>
              <a:rPr lang="en-US" b="0" i="1" dirty="0">
                <a:solidFill>
                  <a:srgbClr val="161616"/>
                </a:solidFill>
                <a:effectLst/>
                <a:latin typeface="Segoe UI" panose="020B0502040204020203" pitchFamily="34" charset="0"/>
              </a:rPr>
              <a:t>workspace</a:t>
            </a:r>
            <a:r>
              <a:rPr lang="en-US" b="0" i="0" dirty="0">
                <a:solidFill>
                  <a:srgbClr val="161616"/>
                </a:solidFill>
                <a:effectLst/>
                <a:latin typeface="Segoe UI" panose="020B0502040204020203" pitchFamily="34" charset="0"/>
              </a:rPr>
              <a:t> in Fabric enables you to distribute ownership and access policies using </a:t>
            </a:r>
            <a:r>
              <a:rPr lang="en-US" b="0" i="1" dirty="0">
                <a:solidFill>
                  <a:srgbClr val="161616"/>
                </a:solidFill>
                <a:effectLst/>
                <a:latin typeface="Segoe UI" panose="020B0502040204020203" pitchFamily="34" charset="0"/>
              </a:rPr>
              <a:t>workspace roles</a:t>
            </a:r>
            <a:r>
              <a:rPr lang="en-US" b="0" i="0" dirty="0">
                <a:solidFill>
                  <a:srgbClr val="161616"/>
                </a:solidFill>
                <a:effectLst/>
                <a:latin typeface="Segoe UI" panose="020B0502040204020203" pitchFamily="34" charset="0"/>
              </a:rPr>
              <a:t>. Within a workspace, you can create Fabric data </a:t>
            </a:r>
            <a:r>
              <a:rPr lang="en-US" b="0" i="1" dirty="0">
                <a:solidFill>
                  <a:srgbClr val="161616"/>
                </a:solidFill>
                <a:effectLst/>
                <a:latin typeface="Segoe UI" panose="020B0502040204020203" pitchFamily="34" charset="0"/>
              </a:rPr>
              <a:t>items</a:t>
            </a:r>
            <a:r>
              <a:rPr lang="en-US" b="0" i="0" dirty="0">
                <a:solidFill>
                  <a:srgbClr val="161616"/>
                </a:solidFill>
                <a:effectLst/>
                <a:latin typeface="Segoe UI" panose="020B0502040204020203" pitchFamily="34" charset="0"/>
              </a:rPr>
              <a:t> like </a:t>
            </a:r>
            <a:r>
              <a:rPr lang="en-US" b="0" i="0" dirty="0" err="1">
                <a:solidFill>
                  <a:srgbClr val="161616"/>
                </a:solidFill>
                <a:effectLst/>
                <a:latin typeface="Segoe UI" panose="020B0502040204020203" pitchFamily="34" charset="0"/>
              </a:rPr>
              <a:t>lakehouses</a:t>
            </a:r>
            <a:r>
              <a:rPr lang="en-US" b="0" i="0" dirty="0">
                <a:solidFill>
                  <a:srgbClr val="161616"/>
                </a:solidFill>
                <a:effectLst/>
                <a:latin typeface="Segoe UI" panose="020B0502040204020203" pitchFamily="34" charset="0"/>
              </a:rPr>
              <a:t>, data warehouses, and semantic models. </a:t>
            </a:r>
            <a:r>
              <a:rPr lang="en-US" b="0" i="1" dirty="0">
                <a:solidFill>
                  <a:srgbClr val="161616"/>
                </a:solidFill>
                <a:effectLst/>
                <a:latin typeface="Segoe UI" panose="020B0502040204020203" pitchFamily="34" charset="0"/>
              </a:rPr>
              <a:t>Item permissions</a:t>
            </a:r>
            <a:r>
              <a:rPr lang="en-US" b="0" i="0" dirty="0">
                <a:solidFill>
                  <a:srgbClr val="161616"/>
                </a:solidFill>
                <a:effectLst/>
                <a:latin typeface="Segoe UI" panose="020B0502040204020203" pitchFamily="34" charset="0"/>
              </a:rPr>
              <a:t> can be inherited from a workspace role or set individually by sharing an item. When workspace roles provide too much access, items can be shared using item permissions to ensure proper security.</a:t>
            </a:r>
          </a:p>
          <a:p>
            <a:pPr algn="l">
              <a:buNone/>
            </a:pPr>
            <a:r>
              <a:rPr lang="en-US" b="0" i="0" dirty="0">
                <a:solidFill>
                  <a:srgbClr val="161616"/>
                </a:solidFill>
                <a:effectLst/>
                <a:latin typeface="Segoe UI" panose="020B0502040204020203" pitchFamily="34" charset="0"/>
              </a:rPr>
              <a:t>Within each data item, </a:t>
            </a:r>
            <a:r>
              <a:rPr lang="en-US" b="0" i="1" dirty="0">
                <a:solidFill>
                  <a:srgbClr val="161616"/>
                </a:solidFill>
                <a:effectLst/>
                <a:latin typeface="Segoe UI" panose="020B0502040204020203" pitchFamily="34" charset="0"/>
              </a:rPr>
              <a:t>granular engine permissions</a:t>
            </a:r>
            <a:r>
              <a:rPr lang="en-US" b="0" i="0" dirty="0">
                <a:solidFill>
                  <a:srgbClr val="161616"/>
                </a:solidFill>
                <a:effectLst/>
                <a:latin typeface="Segoe UI" panose="020B0502040204020203" pitchFamily="34" charset="0"/>
              </a:rPr>
              <a:t> such as Read, </a:t>
            </a:r>
            <a:r>
              <a:rPr lang="en-US" b="0" i="0" dirty="0" err="1">
                <a:solidFill>
                  <a:srgbClr val="161616"/>
                </a:solidFill>
                <a:effectLst/>
                <a:latin typeface="Segoe UI" panose="020B0502040204020203" pitchFamily="34" charset="0"/>
              </a:rPr>
              <a:t>ReadData</a:t>
            </a:r>
            <a:r>
              <a:rPr lang="en-US" b="0" i="0" dirty="0">
                <a:solidFill>
                  <a:srgbClr val="161616"/>
                </a:solidFill>
                <a:effectLst/>
                <a:latin typeface="Segoe UI" panose="020B0502040204020203" pitchFamily="34" charset="0"/>
              </a:rPr>
              <a:t>, or </a:t>
            </a:r>
            <a:r>
              <a:rPr lang="en-US" b="0" i="0" dirty="0" err="1">
                <a:solidFill>
                  <a:srgbClr val="161616"/>
                </a:solidFill>
                <a:effectLst/>
                <a:latin typeface="Segoe UI" panose="020B0502040204020203" pitchFamily="34" charset="0"/>
              </a:rPr>
              <a:t>ReadAll</a:t>
            </a:r>
            <a:r>
              <a:rPr lang="en-US" b="0" i="0" dirty="0">
                <a:solidFill>
                  <a:srgbClr val="161616"/>
                </a:solidFill>
                <a:effectLst/>
                <a:latin typeface="Segoe UI" panose="020B0502040204020203" pitchFamily="34" charset="0"/>
              </a:rPr>
              <a:t> can be applied.</a:t>
            </a:r>
          </a:p>
          <a:p>
            <a:pPr algn="l">
              <a:buNone/>
            </a:pPr>
            <a:r>
              <a:rPr lang="en-US" b="0" i="0" dirty="0">
                <a:solidFill>
                  <a:srgbClr val="161616"/>
                </a:solidFill>
                <a:effectLst/>
                <a:latin typeface="Segoe UI" panose="020B0502040204020203" pitchFamily="34" charset="0"/>
              </a:rPr>
              <a:t>Compute or granular permissions can be applied within a specific compute engine in Fabric, like the SQL Endpoint or semantic model.</a:t>
            </a:r>
          </a:p>
          <a:p>
            <a:pPr algn="l">
              <a:buNone/>
            </a:pPr>
            <a:r>
              <a:rPr lang="en-US" b="0" i="0" dirty="0">
                <a:solidFill>
                  <a:srgbClr val="161616"/>
                </a:solidFill>
                <a:effectLst/>
                <a:latin typeface="Segoe UI" panose="020B0502040204020203" pitchFamily="34" charset="0"/>
              </a:rPr>
              <a:t>Fabric data items store their data in </a:t>
            </a:r>
            <a:r>
              <a:rPr lang="en-US" b="0" i="0" dirty="0" err="1">
                <a:solidFill>
                  <a:srgbClr val="161616"/>
                </a:solidFill>
                <a:effectLst/>
                <a:latin typeface="Segoe UI" panose="020B0502040204020203" pitchFamily="34" charset="0"/>
              </a:rPr>
              <a:t>OneLake</a:t>
            </a:r>
            <a:r>
              <a:rPr lang="en-US" b="0" i="0" dirty="0">
                <a:solidFill>
                  <a:srgbClr val="161616"/>
                </a:solidFill>
                <a:effectLst/>
                <a:latin typeface="Segoe UI" panose="020B0502040204020203" pitchFamily="34" charset="0"/>
              </a:rPr>
              <a:t>. Access to data in the </a:t>
            </a:r>
            <a:r>
              <a:rPr lang="en-US" b="0" i="0" dirty="0" err="1">
                <a:solidFill>
                  <a:srgbClr val="161616"/>
                </a:solidFill>
                <a:effectLst/>
                <a:latin typeface="Segoe UI" panose="020B0502040204020203" pitchFamily="34" charset="0"/>
              </a:rPr>
              <a:t>lakehouse</a:t>
            </a:r>
            <a:r>
              <a:rPr lang="en-US" b="0" i="0" dirty="0">
                <a:solidFill>
                  <a:srgbClr val="161616"/>
                </a:solidFill>
                <a:effectLst/>
                <a:latin typeface="Segoe UI" panose="020B0502040204020203" pitchFamily="34" charset="0"/>
              </a:rPr>
              <a:t> can be restricted to specific files or folders using the role-based-access control (RBAC) feature called </a:t>
            </a:r>
            <a:r>
              <a:rPr lang="en-US" b="0" i="1" dirty="0" err="1">
                <a:solidFill>
                  <a:srgbClr val="161616"/>
                </a:solidFill>
                <a:effectLst/>
                <a:latin typeface="Segoe UI" panose="020B0502040204020203" pitchFamily="34" charset="0"/>
              </a:rPr>
              <a:t>OneLake</a:t>
            </a:r>
            <a:r>
              <a:rPr lang="en-US" b="0" i="1" dirty="0">
                <a:solidFill>
                  <a:srgbClr val="161616"/>
                </a:solidFill>
                <a:effectLst/>
                <a:latin typeface="Segoe UI" panose="020B0502040204020203" pitchFamily="34" charset="0"/>
              </a:rPr>
              <a:t> data access controls (preview)</a:t>
            </a:r>
            <a:r>
              <a:rPr lang="en-US" b="0" i="0" dirty="0">
                <a:solidFill>
                  <a:srgbClr val="161616"/>
                </a:solidFill>
                <a:effectLst/>
                <a:latin typeface="Segoe UI" panose="020B0502040204020203" pitchFamily="34" charset="0"/>
              </a:rPr>
              <a:t>.</a:t>
            </a:r>
          </a:p>
          <a:p>
            <a:pPr>
              <a:buNone/>
            </a:pPr>
            <a:endParaRPr lang="en-US" dirty="0"/>
          </a:p>
        </p:txBody>
      </p:sp>
    </p:spTree>
    <p:extLst>
      <p:ext uri="{BB962C8B-B14F-4D97-AF65-F5344CB8AC3E}">
        <p14:creationId xmlns:p14="http://schemas.microsoft.com/office/powerpoint/2010/main" val="2159757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B3884-553F-FA9F-B256-4631F22240D9}"/>
              </a:ext>
            </a:extLst>
          </p:cNvPr>
          <p:cNvSpPr>
            <a:spLocks noGrp="1"/>
          </p:cNvSpPr>
          <p:nvPr>
            <p:ph type="title"/>
          </p:nvPr>
        </p:nvSpPr>
        <p:spPr/>
        <p:txBody>
          <a:bodyPr/>
          <a:lstStyle/>
          <a:p>
            <a:r>
              <a:rPr lang="en-US" dirty="0"/>
              <a:t>Workspace role </a:t>
            </a:r>
          </a:p>
        </p:txBody>
      </p:sp>
      <p:sp>
        <p:nvSpPr>
          <p:cNvPr id="3" name="Content Placeholder 2">
            <a:extLst>
              <a:ext uri="{FF2B5EF4-FFF2-40B4-BE49-F238E27FC236}">
                <a16:creationId xmlns:a16="http://schemas.microsoft.com/office/drawing/2014/main" id="{807CB529-998F-97B9-788E-2132A988EE50}"/>
              </a:ext>
            </a:extLst>
          </p:cNvPr>
          <p:cNvSpPr>
            <a:spLocks noGrp="1"/>
          </p:cNvSpPr>
          <p:nvPr>
            <p:ph idx="1"/>
          </p:nvPr>
        </p:nvSpPr>
        <p:spPr/>
        <p:txBody>
          <a:bodyPr>
            <a:normAutofit lnSpcReduction="10000"/>
          </a:bodyPr>
          <a:lstStyle/>
          <a:p>
            <a:pPr algn="l">
              <a:buNone/>
            </a:pPr>
            <a:r>
              <a:rPr lang="en-US" b="0" i="0" dirty="0">
                <a:solidFill>
                  <a:srgbClr val="161616"/>
                </a:solidFill>
                <a:effectLst/>
                <a:latin typeface="Segoe UI" panose="020B0502040204020203" pitchFamily="34" charset="0"/>
              </a:rPr>
              <a:t>Workspaces are environments where users can collaborate to create groups of items. Items are the resources you can work with in Fabric such as </a:t>
            </a:r>
            <a:r>
              <a:rPr lang="en-US" b="0" i="0" dirty="0" err="1">
                <a:solidFill>
                  <a:srgbClr val="161616"/>
                </a:solidFill>
                <a:effectLst/>
                <a:latin typeface="Segoe UI" panose="020B0502040204020203" pitchFamily="34" charset="0"/>
              </a:rPr>
              <a:t>lakehouses</a:t>
            </a:r>
            <a:r>
              <a:rPr lang="en-US" b="0" i="0" dirty="0">
                <a:solidFill>
                  <a:srgbClr val="161616"/>
                </a:solidFill>
                <a:effectLst/>
                <a:latin typeface="Segoe UI" panose="020B0502040204020203" pitchFamily="34" charset="0"/>
              </a:rPr>
              <a:t>, warehouses, and reports. Workspace roles are preconfigured sets of permissions that let you manage what users can do and access in a Fabric workspace.</a:t>
            </a:r>
          </a:p>
          <a:p>
            <a:pPr algn="l">
              <a:buNone/>
            </a:pPr>
            <a:r>
              <a:rPr lang="en-US" b="0" i="0" dirty="0">
                <a:solidFill>
                  <a:srgbClr val="161616"/>
                </a:solidFill>
                <a:effectLst/>
                <a:latin typeface="Segoe UI" panose="020B0502040204020203" pitchFamily="34" charset="0"/>
              </a:rPr>
              <a:t>Item permissions control access to individual Fabric items within a workspace. Item permissions let you either adjust the permissions set by a workspace role or give a user access to one or more items within a workspace without adding the user to a workspace role.</a:t>
            </a:r>
          </a:p>
          <a:p>
            <a:endParaRPr lang="en-US" dirty="0"/>
          </a:p>
        </p:txBody>
      </p:sp>
    </p:spTree>
    <p:extLst>
      <p:ext uri="{BB962C8B-B14F-4D97-AF65-F5344CB8AC3E}">
        <p14:creationId xmlns:p14="http://schemas.microsoft.com/office/powerpoint/2010/main" val="268445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DAF9E-2291-9E81-7ECB-52736DBDBA4A}"/>
              </a:ext>
            </a:extLst>
          </p:cNvPr>
          <p:cNvSpPr>
            <a:spLocks noGrp="1"/>
          </p:cNvSpPr>
          <p:nvPr>
            <p:ph type="title"/>
          </p:nvPr>
        </p:nvSpPr>
        <p:spPr/>
        <p:txBody>
          <a:bodyPr/>
          <a:lstStyle/>
          <a:p>
            <a:r>
              <a:rPr lang="en-US" dirty="0"/>
              <a:t>Workspace role</a:t>
            </a:r>
          </a:p>
        </p:txBody>
      </p:sp>
      <p:sp>
        <p:nvSpPr>
          <p:cNvPr id="3" name="Content Placeholder 2">
            <a:extLst>
              <a:ext uri="{FF2B5EF4-FFF2-40B4-BE49-F238E27FC236}">
                <a16:creationId xmlns:a16="http://schemas.microsoft.com/office/drawing/2014/main" id="{FBCA7675-FB62-C5BE-0EEB-24BAE7DE613B}"/>
              </a:ext>
            </a:extLst>
          </p:cNvPr>
          <p:cNvSpPr>
            <a:spLocks noGrp="1"/>
          </p:cNvSpPr>
          <p:nvPr>
            <p:ph idx="1"/>
          </p:nvPr>
        </p:nvSpPr>
        <p:spPr/>
        <p:txBody>
          <a:bodyPr>
            <a:normAutofit fontScale="85000" lnSpcReduction="20000"/>
          </a:bodyPr>
          <a:lstStyle/>
          <a:p>
            <a:pPr marL="0" indent="0">
              <a:buNone/>
            </a:pPr>
            <a:r>
              <a:rPr lang="en-US" b="0" i="0" dirty="0">
                <a:solidFill>
                  <a:srgbClr val="161616"/>
                </a:solidFill>
                <a:effectLst/>
                <a:latin typeface="Segoe UI" panose="020B0502040204020203" pitchFamily="34" charset="0"/>
              </a:rPr>
              <a:t>Let's consider some scenarios where you would need to configure data access using workspace roles and item permissions.</a:t>
            </a:r>
          </a:p>
          <a:p>
            <a:pPr marL="0" indent="0">
              <a:buNone/>
            </a:pPr>
            <a:endParaRPr lang="en-US" b="0" i="0" dirty="0">
              <a:solidFill>
                <a:srgbClr val="161616"/>
              </a:solidFill>
              <a:effectLst/>
              <a:latin typeface="Segoe UI" panose="020B0502040204020203" pitchFamily="34" charset="0"/>
            </a:endParaRPr>
          </a:p>
          <a:p>
            <a:pPr algn="l">
              <a:buNone/>
            </a:pPr>
            <a:r>
              <a:rPr lang="en-US" b="0" i="0" dirty="0">
                <a:solidFill>
                  <a:srgbClr val="161616"/>
                </a:solidFill>
                <a:effectLst/>
                <a:latin typeface="Segoe UI" panose="020B0502040204020203" pitchFamily="34" charset="0"/>
              </a:rPr>
              <a:t>Suppose you work at a health care company as the Fabric security admin. You need to set up access for a new data engineer. The data engineer needs the ability to:</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Create Fabric items in an existing workspace</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Read all data in an existing </a:t>
            </a:r>
            <a:r>
              <a:rPr lang="en-US" b="0" i="0" dirty="0" err="1">
                <a:solidFill>
                  <a:srgbClr val="161616"/>
                </a:solidFill>
                <a:effectLst/>
                <a:latin typeface="Segoe UI" panose="020B0502040204020203" pitchFamily="34" charset="0"/>
              </a:rPr>
              <a:t>lakehouse</a:t>
            </a:r>
            <a:r>
              <a:rPr lang="en-US" b="0" i="0" dirty="0">
                <a:solidFill>
                  <a:srgbClr val="161616"/>
                </a:solidFill>
                <a:effectLst/>
                <a:latin typeface="Segoe UI" panose="020B0502040204020203" pitchFamily="34" charset="0"/>
              </a:rPr>
              <a:t> that's in the same workspace where they can create Fabric items</a:t>
            </a:r>
          </a:p>
          <a:p>
            <a:pPr algn="l">
              <a:buNone/>
            </a:pPr>
            <a:r>
              <a:rPr lang="en-US" b="0" i="0" dirty="0">
                <a:solidFill>
                  <a:srgbClr val="161616"/>
                </a:solidFill>
                <a:effectLst/>
                <a:latin typeface="Segoe UI" panose="020B0502040204020203" pitchFamily="34" charset="0"/>
              </a:rPr>
              <a:t>Workspace roles control what users can do and access within a Fabric workspace. There are four workspace roles and they apply to </a:t>
            </a:r>
            <a:r>
              <a:rPr lang="en-US" b="0" i="1" dirty="0">
                <a:solidFill>
                  <a:srgbClr val="161616"/>
                </a:solidFill>
                <a:effectLst/>
                <a:latin typeface="Segoe UI" panose="020B0502040204020203" pitchFamily="34" charset="0"/>
              </a:rPr>
              <a:t>all</a:t>
            </a:r>
          </a:p>
          <a:p>
            <a:pPr algn="l">
              <a:buNone/>
            </a:pPr>
            <a:r>
              <a:rPr lang="en-US" b="0" i="1" dirty="0">
                <a:solidFill>
                  <a:srgbClr val="161616"/>
                </a:solidFill>
                <a:effectLst/>
                <a:latin typeface="Segoe UI" panose="020B0502040204020203" pitchFamily="34" charset="0"/>
              </a:rPr>
              <a:t> items</a:t>
            </a:r>
            <a:r>
              <a:rPr lang="en-US" b="0" i="0" dirty="0">
                <a:solidFill>
                  <a:srgbClr val="161616"/>
                </a:solidFill>
                <a:effectLst/>
                <a:latin typeface="Segoe UI" panose="020B0502040204020203" pitchFamily="34" charset="0"/>
              </a:rPr>
              <a:t> within a workspace. </a:t>
            </a:r>
            <a:endParaRPr lang="en-US" dirty="0"/>
          </a:p>
        </p:txBody>
      </p:sp>
    </p:spTree>
    <p:extLst>
      <p:ext uri="{BB962C8B-B14F-4D97-AF65-F5344CB8AC3E}">
        <p14:creationId xmlns:p14="http://schemas.microsoft.com/office/powerpoint/2010/main" val="547305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A1869-F4F2-7CA3-AB57-2C0A9808B2A7}"/>
              </a:ext>
            </a:extLst>
          </p:cNvPr>
          <p:cNvSpPr>
            <a:spLocks noGrp="1"/>
          </p:cNvSpPr>
          <p:nvPr>
            <p:ph type="title"/>
          </p:nvPr>
        </p:nvSpPr>
        <p:spPr/>
        <p:txBody>
          <a:bodyPr/>
          <a:lstStyle/>
          <a:p>
            <a:r>
              <a:rPr lang="en-US" dirty="0"/>
              <a:t>Workspace role</a:t>
            </a:r>
          </a:p>
        </p:txBody>
      </p:sp>
      <p:sp>
        <p:nvSpPr>
          <p:cNvPr id="3" name="Content Placeholder 2">
            <a:extLst>
              <a:ext uri="{FF2B5EF4-FFF2-40B4-BE49-F238E27FC236}">
                <a16:creationId xmlns:a16="http://schemas.microsoft.com/office/drawing/2014/main" id="{2BD6CFC8-1173-29F0-EFC4-032B5AE6A01E}"/>
              </a:ext>
            </a:extLst>
          </p:cNvPr>
          <p:cNvSpPr>
            <a:spLocks noGrp="1"/>
          </p:cNvSpPr>
          <p:nvPr>
            <p:ph idx="1"/>
          </p:nvPr>
        </p:nvSpPr>
        <p:spPr/>
        <p:txBody>
          <a:bodyPr>
            <a:normAutofit fontScale="85000" lnSpcReduction="20000"/>
          </a:bodyPr>
          <a:lstStyle/>
          <a:p>
            <a:pPr algn="l">
              <a:buNone/>
            </a:pPr>
            <a:r>
              <a:rPr lang="en-US" b="0" i="0" dirty="0">
                <a:solidFill>
                  <a:srgbClr val="161616"/>
                </a:solidFill>
                <a:effectLst/>
                <a:latin typeface="Segoe UI" panose="020B0502040204020203" pitchFamily="34" charset="0"/>
              </a:rPr>
              <a:t>Workspace roles can be assigned to individuals, security groups, Microsoft 365 groups, and distribution lists. </a:t>
            </a:r>
          </a:p>
          <a:p>
            <a:pPr algn="l">
              <a:buNone/>
            </a:pPr>
            <a:r>
              <a:rPr lang="en-US" b="0" i="0" dirty="0">
                <a:solidFill>
                  <a:srgbClr val="161616"/>
                </a:solidFill>
                <a:effectLst/>
                <a:latin typeface="Segoe UI" panose="020B0502040204020203" pitchFamily="34" charset="0"/>
              </a:rPr>
              <a:t>Users can be assigned to the following roles:</a:t>
            </a:r>
          </a:p>
          <a:p>
            <a:pPr algn="l">
              <a:spcBef>
                <a:spcPts val="1200"/>
              </a:spcBef>
              <a:spcAft>
                <a:spcPts val="1200"/>
              </a:spcAft>
              <a:buFont typeface="Arial" panose="020B0604020202020204" pitchFamily="34" charset="0"/>
              <a:buChar char="•"/>
            </a:pPr>
            <a:r>
              <a:rPr lang="en-US" b="1" i="0" dirty="0">
                <a:solidFill>
                  <a:srgbClr val="161616"/>
                </a:solidFill>
                <a:effectLst/>
                <a:latin typeface="Segoe UI" panose="020B0502040204020203" pitchFamily="34" charset="0"/>
              </a:rPr>
              <a:t>Admin</a:t>
            </a:r>
            <a:r>
              <a:rPr lang="en-US" b="0" i="0" dirty="0">
                <a:solidFill>
                  <a:srgbClr val="161616"/>
                </a:solidFill>
                <a:effectLst/>
                <a:latin typeface="Segoe UI" panose="020B0502040204020203" pitchFamily="34" charset="0"/>
              </a:rPr>
              <a:t> - Can view, modify, share, and manage all content and data in the workspace, and manage permissions.</a:t>
            </a:r>
          </a:p>
          <a:p>
            <a:pPr algn="l">
              <a:spcBef>
                <a:spcPts val="1200"/>
              </a:spcBef>
              <a:spcAft>
                <a:spcPts val="1200"/>
              </a:spcAft>
              <a:buFont typeface="Arial" panose="020B0604020202020204" pitchFamily="34" charset="0"/>
              <a:buChar char="•"/>
            </a:pPr>
            <a:r>
              <a:rPr lang="en-US" b="1" i="0" dirty="0">
                <a:solidFill>
                  <a:srgbClr val="161616"/>
                </a:solidFill>
                <a:effectLst/>
                <a:latin typeface="Segoe UI" panose="020B0502040204020203" pitchFamily="34" charset="0"/>
              </a:rPr>
              <a:t>Member</a:t>
            </a:r>
            <a:r>
              <a:rPr lang="en-US" b="0" i="0" dirty="0">
                <a:solidFill>
                  <a:srgbClr val="161616"/>
                </a:solidFill>
                <a:effectLst/>
                <a:latin typeface="Segoe UI" panose="020B0502040204020203" pitchFamily="34" charset="0"/>
              </a:rPr>
              <a:t> - Can view, modify, and share all content and data in the workspace.</a:t>
            </a:r>
          </a:p>
          <a:p>
            <a:pPr algn="l">
              <a:spcBef>
                <a:spcPts val="1200"/>
              </a:spcBef>
              <a:spcAft>
                <a:spcPts val="1200"/>
              </a:spcAft>
              <a:buFont typeface="Arial" panose="020B0604020202020204" pitchFamily="34" charset="0"/>
              <a:buChar char="•"/>
            </a:pPr>
            <a:r>
              <a:rPr lang="en-US" b="1" i="0" dirty="0">
                <a:solidFill>
                  <a:srgbClr val="161616"/>
                </a:solidFill>
                <a:effectLst/>
                <a:latin typeface="Segoe UI" panose="020B0502040204020203" pitchFamily="34" charset="0"/>
              </a:rPr>
              <a:t>Contributor</a:t>
            </a:r>
            <a:r>
              <a:rPr lang="en-US" b="0" i="0" dirty="0">
                <a:solidFill>
                  <a:srgbClr val="161616"/>
                </a:solidFill>
                <a:effectLst/>
                <a:latin typeface="Segoe UI" panose="020B0502040204020203" pitchFamily="34" charset="0"/>
              </a:rPr>
              <a:t> - Can view and modify all content and data in the workspace.</a:t>
            </a:r>
          </a:p>
          <a:p>
            <a:pPr algn="l">
              <a:spcBef>
                <a:spcPts val="1200"/>
              </a:spcBef>
              <a:spcAft>
                <a:spcPts val="1200"/>
              </a:spcAft>
              <a:buFont typeface="Arial" panose="020B0604020202020204" pitchFamily="34" charset="0"/>
              <a:buChar char="•"/>
            </a:pPr>
            <a:r>
              <a:rPr lang="en-US" b="1" i="0" dirty="0">
                <a:solidFill>
                  <a:srgbClr val="161616"/>
                </a:solidFill>
                <a:effectLst/>
                <a:latin typeface="Segoe UI" panose="020B0502040204020203" pitchFamily="34" charset="0"/>
              </a:rPr>
              <a:t>Viewer</a:t>
            </a:r>
            <a:r>
              <a:rPr lang="en-US" b="0" i="0" dirty="0">
                <a:solidFill>
                  <a:srgbClr val="161616"/>
                </a:solidFill>
                <a:effectLst/>
                <a:latin typeface="Segoe UI" panose="020B0502040204020203" pitchFamily="34" charset="0"/>
              </a:rPr>
              <a:t> - Can view all content and data in the workspace, but can't modify it.</a:t>
            </a:r>
          </a:p>
          <a:p>
            <a:endParaRPr lang="en-US" dirty="0"/>
          </a:p>
        </p:txBody>
      </p:sp>
    </p:spTree>
    <p:extLst>
      <p:ext uri="{BB962C8B-B14F-4D97-AF65-F5344CB8AC3E}">
        <p14:creationId xmlns:p14="http://schemas.microsoft.com/office/powerpoint/2010/main" val="1070064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1270</TotalTime>
  <Words>842</Words>
  <Application>Microsoft Office PowerPoint</Application>
  <PresentationFormat>Widescreen</PresentationFormat>
  <Paragraphs>47</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Segoe UI</vt:lpstr>
      <vt:lpstr>Office Theme</vt:lpstr>
      <vt:lpstr>Secure Data access</vt:lpstr>
      <vt:lpstr>Introduction</vt:lpstr>
      <vt:lpstr>Secure data by use case</vt:lpstr>
      <vt:lpstr>Security level</vt:lpstr>
      <vt:lpstr>Data security</vt:lpstr>
      <vt:lpstr>PowerPoint Presentation</vt:lpstr>
      <vt:lpstr>Security </vt:lpstr>
      <vt:lpstr>Workspace role </vt:lpstr>
      <vt:lpstr>Workspace role</vt:lpstr>
      <vt:lpstr>Workspace role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Amrita Helwade</dc:creator>
  <cp:lastModifiedBy>Amrita Helwade</cp:lastModifiedBy>
  <cp:revision>32</cp:revision>
  <dcterms:created xsi:type="dcterms:W3CDTF">2025-03-14T09:36:16Z</dcterms:created>
  <dcterms:modified xsi:type="dcterms:W3CDTF">2025-03-31T09:33:21Z</dcterms:modified>
</cp:coreProperties>
</file>