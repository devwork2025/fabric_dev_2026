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62" r:id="rId6"/>
    <p:sldId id="259" r:id="rId7"/>
    <p:sldId id="260"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94660"/>
  </p:normalViewPr>
  <p:slideViewPr>
    <p:cSldViewPr snapToGrid="0">
      <p:cViewPr varScale="1">
        <p:scale>
          <a:sx n="90" d="100"/>
          <a:sy n="90" d="100"/>
        </p:scale>
        <p:origin x="17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465CC-83F3-457C-DC23-9F1825754C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4DF310-B5EC-E854-C9C7-15E159FE13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B7A0CE-CE1E-C0F5-3C7C-305ED804956A}"/>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5" name="Footer Placeholder 4">
            <a:extLst>
              <a:ext uri="{FF2B5EF4-FFF2-40B4-BE49-F238E27FC236}">
                <a16:creationId xmlns:a16="http://schemas.microsoft.com/office/drawing/2014/main" id="{8E0D5119-47B9-2B87-9433-800B684B80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8EDB10-1FDC-C928-8A23-5B416766D147}"/>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081270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4B996-4972-A210-6F62-894EF6F3E2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E7E5F4-7C72-C40D-B6EA-F5A5BF5D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829D94-1DC7-022A-FA79-5B53CD4605DC}"/>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5" name="Footer Placeholder 4">
            <a:extLst>
              <a:ext uri="{FF2B5EF4-FFF2-40B4-BE49-F238E27FC236}">
                <a16:creationId xmlns:a16="http://schemas.microsoft.com/office/drawing/2014/main" id="{BAA623DA-8A94-FF5A-85D2-1C5FED4E0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67468-B8C1-17A6-8546-30CF87B6AC8E}"/>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3664235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F649C-B5B2-A176-B31B-8679A9CA2D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3119A0-7DF6-3908-FD6B-626165B631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3C39-6C61-E6C4-914A-7A7F268DD32F}"/>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5" name="Footer Placeholder 4">
            <a:extLst>
              <a:ext uri="{FF2B5EF4-FFF2-40B4-BE49-F238E27FC236}">
                <a16:creationId xmlns:a16="http://schemas.microsoft.com/office/drawing/2014/main" id="{3AD6CB1B-A2D2-E5C7-9011-DC6FF45A8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593941-0487-9B40-51FB-182BBE87CFE6}"/>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169749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BF04-FCA0-0EF7-1B76-B4BB9FA7B6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C37A59-2517-9305-3506-86A197E7E5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DFF2DF-158B-F172-3A65-25CB7C31F1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1AFE6A-B4C0-AECD-A60B-0AE03D11A101}"/>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6" name="Footer Placeholder 5">
            <a:extLst>
              <a:ext uri="{FF2B5EF4-FFF2-40B4-BE49-F238E27FC236}">
                <a16:creationId xmlns:a16="http://schemas.microsoft.com/office/drawing/2014/main" id="{1FB73D79-1BA8-860A-14D8-738ADEABD9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F63E6-FAB6-BC77-F7B3-530F7F4AEC47}"/>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73812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44AC2-5DC2-BA89-8225-2CA887E921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2F51C8-700D-E4D9-FEC6-61CC2581D0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90AFD0-2771-23BB-5199-A2D957DD6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0F1BCB-3A70-952B-DA17-11F731CE91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A81A62-613F-04F1-AE4C-BBEB2CC875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A891C1-B53E-CED3-0E1B-94BE85F42382}"/>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8" name="Footer Placeholder 7">
            <a:extLst>
              <a:ext uri="{FF2B5EF4-FFF2-40B4-BE49-F238E27FC236}">
                <a16:creationId xmlns:a16="http://schemas.microsoft.com/office/drawing/2014/main" id="{F8CEF6BA-50CD-532C-A512-8FDF076530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E8988A-7D1C-2345-BB50-F74804707C5E}"/>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91834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A1AA9-4022-4BAA-2175-393706D559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CE4454-A0AE-C848-B7F3-09549093B1D8}"/>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4" name="Footer Placeholder 3">
            <a:extLst>
              <a:ext uri="{FF2B5EF4-FFF2-40B4-BE49-F238E27FC236}">
                <a16:creationId xmlns:a16="http://schemas.microsoft.com/office/drawing/2014/main" id="{20D504D5-148F-8E15-99CE-AB34D651CB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22E9D1-4C01-99A7-A413-40D4CB295944}"/>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7045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3ABC74-BB54-3822-0C17-4DCCE44A1F44}"/>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3" name="Footer Placeholder 2">
            <a:extLst>
              <a:ext uri="{FF2B5EF4-FFF2-40B4-BE49-F238E27FC236}">
                <a16:creationId xmlns:a16="http://schemas.microsoft.com/office/drawing/2014/main" id="{121C8C61-5A46-0265-0860-D8C91D6F6B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E26380-BC79-A3EE-2CB3-801FA0B4062E}"/>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591895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5210C-D7AE-06D9-E490-384309D43A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2E2BBD-AAE7-168F-DAA8-BA3A83B8EA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4B6665-A1DB-A2E0-3E3F-106520E33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1F9154-1298-CCF7-2FB8-77F208160F0E}"/>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6" name="Footer Placeholder 5">
            <a:extLst>
              <a:ext uri="{FF2B5EF4-FFF2-40B4-BE49-F238E27FC236}">
                <a16:creationId xmlns:a16="http://schemas.microsoft.com/office/drawing/2014/main" id="{7334EDED-DAB7-44F6-B787-836E38035A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9F2B4D-189E-EE5F-6B33-0F1462B5D9F6}"/>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957848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2A0D-260B-08B2-6409-7EE369BB5C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6CAA07-21F2-54B7-4BCB-38D45359FB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AC9F76-C378-E61B-1FB7-B79021195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E0D984-A786-6CCC-DC1C-9B1A498C9FCB}"/>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6" name="Footer Placeholder 5">
            <a:extLst>
              <a:ext uri="{FF2B5EF4-FFF2-40B4-BE49-F238E27FC236}">
                <a16:creationId xmlns:a16="http://schemas.microsoft.com/office/drawing/2014/main" id="{E9115588-F413-9070-E122-83F7E9BCF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802305-9070-C530-3C0B-A8F39F992701}"/>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2759290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C129B-61E5-1FC4-DAA7-9FA9CB1A99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5EEAFB-70CE-CD00-2C44-2498246D32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C6F421-0488-1D6A-DE91-A7C5B2417263}"/>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5" name="Footer Placeholder 4">
            <a:extLst>
              <a:ext uri="{FF2B5EF4-FFF2-40B4-BE49-F238E27FC236}">
                <a16:creationId xmlns:a16="http://schemas.microsoft.com/office/drawing/2014/main" id="{7A9179BD-AFEB-3F00-2853-BABF174945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2E0D5D-5B9D-AC90-6C08-090847938D74}"/>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90221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E0186-B3BF-267F-A73B-F553D71B76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A8DB71-3C25-D064-4769-60EEA18380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FCF0FB-CA5E-2049-9B83-CDA50A72198F}"/>
              </a:ext>
            </a:extLst>
          </p:cNvPr>
          <p:cNvSpPr>
            <a:spLocks noGrp="1"/>
          </p:cNvSpPr>
          <p:nvPr>
            <p:ph type="dt" sz="half" idx="10"/>
          </p:nvPr>
        </p:nvSpPr>
        <p:spPr/>
        <p:txBody>
          <a:bodyPr/>
          <a:lstStyle/>
          <a:p>
            <a:fld id="{563D30D3-4A12-4A65-B4C5-27183B6C7470}" type="datetimeFigureOut">
              <a:rPr lang="en-US" smtClean="0"/>
              <a:t>3/27/2025</a:t>
            </a:fld>
            <a:endParaRPr lang="en-US"/>
          </a:p>
        </p:txBody>
      </p:sp>
      <p:sp>
        <p:nvSpPr>
          <p:cNvPr id="5" name="Footer Placeholder 4">
            <a:extLst>
              <a:ext uri="{FF2B5EF4-FFF2-40B4-BE49-F238E27FC236}">
                <a16:creationId xmlns:a16="http://schemas.microsoft.com/office/drawing/2014/main" id="{AAFEAD97-C1DF-67FF-87DB-3CA1117A0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27FE49-5569-9A7E-13B1-8E20CBFF39D0}"/>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3866973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DCFD00-856F-7B96-353C-637F8BB24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56D76C-A3E0-6E12-1215-A4E6E534A0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BCBBC-254F-1CE4-A87C-AF04794A3D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3D30D3-4A12-4A65-B4C5-27183B6C7470}" type="datetimeFigureOut">
              <a:rPr lang="en-US" smtClean="0"/>
              <a:t>3/27/2025</a:t>
            </a:fld>
            <a:endParaRPr lang="en-US"/>
          </a:p>
        </p:txBody>
      </p:sp>
      <p:sp>
        <p:nvSpPr>
          <p:cNvPr id="5" name="Footer Placeholder 4">
            <a:extLst>
              <a:ext uri="{FF2B5EF4-FFF2-40B4-BE49-F238E27FC236}">
                <a16:creationId xmlns:a16="http://schemas.microsoft.com/office/drawing/2014/main" id="{C274503A-BA3E-3A99-ACD4-EEDB8C07B3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A1B8B4-8E0F-890D-9399-3A52175CA3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65799B-5D2B-411A-885A-F229DEFBE1F1}" type="slidenum">
              <a:rPr lang="en-US" smtClean="0"/>
              <a:t>‹#›</a:t>
            </a:fld>
            <a:endParaRPr lang="en-US"/>
          </a:p>
        </p:txBody>
      </p:sp>
    </p:spTree>
    <p:extLst>
      <p:ext uri="{BB962C8B-B14F-4D97-AF65-F5344CB8AC3E}">
        <p14:creationId xmlns:p14="http://schemas.microsoft.com/office/powerpoint/2010/main" val="615594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learn.microsoft.com/en-us/fabric/fundamentals/microsoft-fabric-overview#capabilities-of-fabri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6EAA2-E989-F622-A732-44D3BA98E122}"/>
              </a:ext>
            </a:extLst>
          </p:cNvPr>
          <p:cNvSpPr>
            <a:spLocks noGrp="1"/>
          </p:cNvSpPr>
          <p:nvPr>
            <p:ph type="ctrTitle"/>
          </p:nvPr>
        </p:nvSpPr>
        <p:spPr/>
        <p:txBody>
          <a:bodyPr/>
          <a:lstStyle/>
          <a:p>
            <a:r>
              <a:rPr lang="en-US" dirty="0"/>
              <a:t>Direct lake and Power BI</a:t>
            </a:r>
          </a:p>
        </p:txBody>
      </p:sp>
      <p:sp>
        <p:nvSpPr>
          <p:cNvPr id="3" name="Subtitle 2">
            <a:extLst>
              <a:ext uri="{FF2B5EF4-FFF2-40B4-BE49-F238E27FC236}">
                <a16:creationId xmlns:a16="http://schemas.microsoft.com/office/drawing/2014/main" id="{DD0F612A-D3F4-E9D4-E721-A4B39EA111F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02455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DBED-2065-13F5-D4AF-5A2E5CCF22F7}"/>
              </a:ext>
            </a:extLst>
          </p:cNvPr>
          <p:cNvSpPr>
            <a:spLocks noGrp="1"/>
          </p:cNvSpPr>
          <p:nvPr>
            <p:ph type="title"/>
          </p:nvPr>
        </p:nvSpPr>
        <p:spPr/>
        <p:txBody>
          <a:bodyPr/>
          <a:lstStyle/>
          <a:p>
            <a:r>
              <a:rPr lang="en-US" dirty="0"/>
              <a:t>Capabilities</a:t>
            </a:r>
          </a:p>
        </p:txBody>
      </p:sp>
      <p:sp>
        <p:nvSpPr>
          <p:cNvPr id="3" name="Content Placeholder 2">
            <a:extLst>
              <a:ext uri="{FF2B5EF4-FFF2-40B4-BE49-F238E27FC236}">
                <a16:creationId xmlns:a16="http://schemas.microsoft.com/office/drawing/2014/main" id="{2DB3C78E-3B1D-B449-627C-9ED8422EC512}"/>
              </a:ext>
            </a:extLst>
          </p:cNvPr>
          <p:cNvSpPr>
            <a:spLocks noGrp="1"/>
          </p:cNvSpPr>
          <p:nvPr>
            <p:ph idx="1"/>
          </p:nvPr>
        </p:nvSpPr>
        <p:spPr/>
        <p:txBody>
          <a:bodyPr>
            <a:normAutofit fontScale="62500" lnSpcReduction="20000"/>
          </a:bodyPr>
          <a:lstStyle/>
          <a:p>
            <a:pPr marL="0" indent="0">
              <a:buNone/>
            </a:pPr>
            <a:r>
              <a:rPr lang="en-US" dirty="0"/>
              <a:t>Capabilities of Microsoft fabric are</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Role-specific workloads:</a:t>
            </a:r>
            <a:r>
              <a:rPr lang="en-US" b="0" i="0" dirty="0">
                <a:solidFill>
                  <a:srgbClr val="161616"/>
                </a:solidFill>
                <a:effectLst/>
                <a:latin typeface="Segoe UI" panose="020B0502040204020203" pitchFamily="34" charset="0"/>
              </a:rPr>
              <a:t> Customized solutions for various roles within an organization, providing each user with the necessary tools.</a:t>
            </a:r>
          </a:p>
          <a:p>
            <a:pPr algn="l">
              <a:spcBef>
                <a:spcPts val="1200"/>
              </a:spcBef>
              <a:spcAft>
                <a:spcPts val="1200"/>
              </a:spcAft>
              <a:buFont typeface="Arial" panose="020B0604020202020204" pitchFamily="34" charset="0"/>
              <a:buChar char="•"/>
            </a:pPr>
            <a:r>
              <a:rPr lang="en-US" b="1" i="0" dirty="0" err="1">
                <a:solidFill>
                  <a:srgbClr val="161616"/>
                </a:solidFill>
                <a:effectLst/>
                <a:latin typeface="Segoe UI" panose="020B0502040204020203" pitchFamily="34" charset="0"/>
              </a:rPr>
              <a:t>OneLake</a:t>
            </a:r>
            <a:r>
              <a:rPr lang="en-US" b="1" i="0" dirty="0">
                <a:solidFill>
                  <a:srgbClr val="161616"/>
                </a:solidFill>
                <a:effectLst/>
                <a:latin typeface="Segoe UI" panose="020B0502040204020203" pitchFamily="34" charset="0"/>
              </a:rPr>
              <a:t>:</a:t>
            </a:r>
            <a:r>
              <a:rPr lang="en-US" b="0" i="0" dirty="0">
                <a:solidFill>
                  <a:srgbClr val="161616"/>
                </a:solidFill>
                <a:effectLst/>
                <a:latin typeface="Segoe UI" panose="020B0502040204020203" pitchFamily="34" charset="0"/>
              </a:rPr>
              <a:t> A unified data lake that simplifies data management and access.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Copilot support:</a:t>
            </a:r>
            <a:r>
              <a:rPr lang="en-US" b="0" i="0" dirty="0">
                <a:solidFill>
                  <a:srgbClr val="161616"/>
                </a:solidFill>
                <a:effectLst/>
                <a:latin typeface="Segoe UI" panose="020B0502040204020203" pitchFamily="34" charset="0"/>
              </a:rPr>
              <a:t> AI-driven features that assist users by providing intelligent suggestions and automating tasks.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Integration with Microsoft 365:</a:t>
            </a:r>
            <a:r>
              <a:rPr lang="en-US" b="0" i="0" dirty="0">
                <a:solidFill>
                  <a:srgbClr val="161616"/>
                </a:solidFill>
                <a:effectLst/>
                <a:latin typeface="Segoe UI" panose="020B0502040204020203" pitchFamily="34" charset="0"/>
              </a:rPr>
              <a:t> Seamless integration with Microsoft 365 tools, enhancing collaboration and productivity across the organization.</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Azure AI Foundry:</a:t>
            </a:r>
            <a:r>
              <a:rPr lang="en-US" b="0" i="0" dirty="0">
                <a:solidFill>
                  <a:srgbClr val="161616"/>
                </a:solidFill>
                <a:effectLst/>
                <a:latin typeface="Segoe UI" panose="020B0502040204020203" pitchFamily="34" charset="0"/>
              </a:rPr>
              <a:t> Utilizes Azure AI Foundry for advanced AI and machine learning capabilities, enabling users to build and deploy AI models efficiently.</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Unified data management:</a:t>
            </a:r>
            <a:r>
              <a:rPr lang="en-US" b="0" i="0" dirty="0">
                <a:solidFill>
                  <a:srgbClr val="161616"/>
                </a:solidFill>
                <a:effectLst/>
                <a:latin typeface="Segoe UI" panose="020B0502040204020203" pitchFamily="34" charset="0"/>
              </a:rPr>
              <a:t> Centralized data discovery that simplifies governance, sharing, and access.</a:t>
            </a:r>
          </a:p>
          <a:p>
            <a:endParaRPr lang="en-US" dirty="0"/>
          </a:p>
        </p:txBody>
      </p:sp>
    </p:spTree>
    <p:extLst>
      <p:ext uri="{BB962C8B-B14F-4D97-AF65-F5344CB8AC3E}">
        <p14:creationId xmlns:p14="http://schemas.microsoft.com/office/powerpoint/2010/main" val="2534085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agram of the software as a service foundation beneath the different experiences of Fabric.">
            <a:extLst>
              <a:ext uri="{FF2B5EF4-FFF2-40B4-BE49-F238E27FC236}">
                <a16:creationId xmlns:a16="http://schemas.microsoft.com/office/drawing/2014/main" id="{56881DF5-7F71-B24B-A4AC-E3E35746A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352550"/>
            <a:ext cx="7620000" cy="415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695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2D38B-29A6-F742-44D1-82EA3C5575A8}"/>
              </a:ext>
            </a:extLst>
          </p:cNvPr>
          <p:cNvSpPr>
            <a:spLocks noGrp="1"/>
          </p:cNvSpPr>
          <p:nvPr>
            <p:ph type="title"/>
          </p:nvPr>
        </p:nvSpPr>
        <p:spPr/>
        <p:txBody>
          <a:bodyPr/>
          <a:lstStyle/>
          <a:p>
            <a:r>
              <a:rPr lang="en-US" b="1" i="0" dirty="0">
                <a:solidFill>
                  <a:srgbClr val="161616"/>
                </a:solidFill>
                <a:effectLst/>
                <a:latin typeface="Segoe UI" panose="020B0502040204020203" pitchFamily="34" charset="0"/>
              </a:rPr>
              <a:t>Components of Microsoft Fabric</a:t>
            </a:r>
            <a:endParaRPr lang="en-US" dirty="0"/>
          </a:p>
        </p:txBody>
      </p:sp>
      <p:sp>
        <p:nvSpPr>
          <p:cNvPr id="3" name="Content Placeholder 2">
            <a:extLst>
              <a:ext uri="{FF2B5EF4-FFF2-40B4-BE49-F238E27FC236}">
                <a16:creationId xmlns:a16="http://schemas.microsoft.com/office/drawing/2014/main" id="{206DE9FA-B721-B15E-B57D-2F9BC3B9CCF0}"/>
              </a:ext>
            </a:extLst>
          </p:cNvPr>
          <p:cNvSpPr>
            <a:spLocks noGrp="1"/>
          </p:cNvSpPr>
          <p:nvPr>
            <p:ph idx="1"/>
          </p:nvPr>
        </p:nvSpPr>
        <p:spPr/>
        <p:txBody>
          <a:bodyPr/>
          <a:lstStyle/>
          <a:p>
            <a:r>
              <a:rPr lang="en-US" dirty="0">
                <a:hlinkClick r:id="rId2"/>
              </a:rPr>
              <a:t>components of Microsoft fabric</a:t>
            </a:r>
            <a:endParaRPr lang="en-US" dirty="0"/>
          </a:p>
          <a:p>
            <a:endParaRPr lang="en-US" dirty="0"/>
          </a:p>
        </p:txBody>
      </p:sp>
    </p:spTree>
    <p:extLst>
      <p:ext uri="{BB962C8B-B14F-4D97-AF65-F5344CB8AC3E}">
        <p14:creationId xmlns:p14="http://schemas.microsoft.com/office/powerpoint/2010/main" val="458761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iagram of different Fabric experiences all accessing the same OneLake data storage.">
            <a:extLst>
              <a:ext uri="{FF2B5EF4-FFF2-40B4-BE49-F238E27FC236}">
                <a16:creationId xmlns:a16="http://schemas.microsoft.com/office/drawing/2014/main" id="{5298CB5E-3B96-BAC4-FCFC-B8B58780F4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113" y="19050"/>
            <a:ext cx="11153775" cy="681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3667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484D5-6EED-BA79-326F-12949557436D}"/>
              </a:ext>
            </a:extLst>
          </p:cNvPr>
          <p:cNvSpPr>
            <a:spLocks noGrp="1"/>
          </p:cNvSpPr>
          <p:nvPr>
            <p:ph type="title"/>
          </p:nvPr>
        </p:nvSpPr>
        <p:spPr/>
        <p:txBody>
          <a:bodyPr/>
          <a:lstStyle/>
          <a:p>
            <a:r>
              <a:rPr lang="en-US" dirty="0"/>
              <a:t>Evaluation of workflow </a:t>
            </a:r>
          </a:p>
        </p:txBody>
      </p:sp>
      <p:sp>
        <p:nvSpPr>
          <p:cNvPr id="3" name="Content Placeholder 2">
            <a:extLst>
              <a:ext uri="{FF2B5EF4-FFF2-40B4-BE49-F238E27FC236}">
                <a16:creationId xmlns:a16="http://schemas.microsoft.com/office/drawing/2014/main" id="{1761DFBE-33EA-EABB-281D-7F4E498331D1}"/>
              </a:ext>
            </a:extLst>
          </p:cNvPr>
          <p:cNvSpPr>
            <a:spLocks noGrp="1"/>
          </p:cNvSpPr>
          <p:nvPr>
            <p:ph idx="1"/>
          </p:nvPr>
        </p:nvSpPr>
        <p:spPr>
          <a:xfrm>
            <a:off x="634999" y="1690688"/>
            <a:ext cx="10930467" cy="4862512"/>
          </a:xfrm>
        </p:spPr>
        <p:txBody>
          <a:bodyPr>
            <a:normAutofit fontScale="77500" lnSpcReduction="20000"/>
          </a:bodyPr>
          <a:lstStyle/>
          <a:p>
            <a:pPr marL="0" indent="0">
              <a:buNone/>
            </a:pPr>
            <a:r>
              <a:rPr lang="en-US" b="0" i="0" dirty="0">
                <a:solidFill>
                  <a:srgbClr val="161616"/>
                </a:solidFill>
                <a:effectLst/>
                <a:latin typeface="Segoe UI" panose="020B0502040204020203" pitchFamily="34" charset="0"/>
              </a:rPr>
              <a:t>Microsoft Fabric transforms the analytics development process by unifying tools into a SaaS platform, allowing flexibility for different roles to perform necessary skills without duplicating efforts.</a:t>
            </a:r>
          </a:p>
          <a:p>
            <a:pPr algn="l">
              <a:buNone/>
            </a:pPr>
            <a:r>
              <a:rPr lang="en-US" b="1" i="0" dirty="0">
                <a:solidFill>
                  <a:srgbClr val="161616"/>
                </a:solidFill>
                <a:effectLst/>
                <a:latin typeface="Segoe UI" panose="020B0502040204020203" pitchFamily="34" charset="0"/>
              </a:rPr>
              <a:t>Data engineers</a:t>
            </a:r>
            <a:r>
              <a:rPr lang="en-US" b="0" i="0" dirty="0">
                <a:solidFill>
                  <a:srgbClr val="161616"/>
                </a:solidFill>
                <a:effectLst/>
                <a:latin typeface="Segoe UI" panose="020B0502040204020203" pitchFamily="34" charset="0"/>
              </a:rPr>
              <a:t> can now ingest, transform, and load large amounts of data into </a:t>
            </a:r>
            <a:r>
              <a:rPr lang="en-US" b="0"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and present it in whichever data store makes most sense. Data loading patterns are simplified using pipelines and architectures, such as medallion, can be easily configured using workspaces.</a:t>
            </a:r>
          </a:p>
          <a:p>
            <a:pPr algn="l">
              <a:buNone/>
            </a:pPr>
            <a:r>
              <a:rPr lang="en-US" b="1" i="0" dirty="0">
                <a:solidFill>
                  <a:srgbClr val="161616"/>
                </a:solidFill>
                <a:effectLst/>
                <a:latin typeface="Segoe UI" panose="020B0502040204020203" pitchFamily="34" charset="0"/>
              </a:rPr>
              <a:t>Data analysts</a:t>
            </a:r>
            <a:r>
              <a:rPr lang="en-US" b="0" i="0" dirty="0">
                <a:solidFill>
                  <a:srgbClr val="161616"/>
                </a:solidFill>
                <a:effectLst/>
                <a:latin typeface="Segoe UI" panose="020B0502040204020203" pitchFamily="34" charset="0"/>
              </a:rPr>
              <a:t> gain greater context and streamline processes, transforming data upstream with Data Factory and connecting with data more directly using Direct Lake mode.</a:t>
            </a:r>
          </a:p>
          <a:p>
            <a:pPr algn="l">
              <a:buNone/>
            </a:pPr>
            <a:r>
              <a:rPr lang="en-US" b="1" i="0" dirty="0">
                <a:solidFill>
                  <a:srgbClr val="161616"/>
                </a:solidFill>
                <a:effectLst/>
                <a:latin typeface="Segoe UI" panose="020B0502040204020203" pitchFamily="34" charset="0"/>
              </a:rPr>
              <a:t>Data scientists</a:t>
            </a:r>
            <a:r>
              <a:rPr lang="en-US" b="0" i="0" dirty="0">
                <a:solidFill>
                  <a:srgbClr val="161616"/>
                </a:solidFill>
                <a:effectLst/>
                <a:latin typeface="Segoe UI" panose="020B0502040204020203" pitchFamily="34" charset="0"/>
              </a:rPr>
              <a:t> Integrate native data science techniques more easily and use Power BI's interactive reporting to provide data-informed insights.</a:t>
            </a:r>
          </a:p>
          <a:p>
            <a:pPr algn="l">
              <a:buNone/>
            </a:pPr>
            <a:r>
              <a:rPr lang="en-US" b="1" i="0" dirty="0">
                <a:solidFill>
                  <a:srgbClr val="161616"/>
                </a:solidFill>
                <a:effectLst/>
                <a:latin typeface="Segoe UI" panose="020B0502040204020203" pitchFamily="34" charset="0"/>
              </a:rPr>
              <a:t>Analytics engineers</a:t>
            </a:r>
            <a:r>
              <a:rPr lang="en-US" b="0" i="0" dirty="0">
                <a:solidFill>
                  <a:srgbClr val="161616"/>
                </a:solidFill>
                <a:effectLst/>
                <a:latin typeface="Segoe UI" panose="020B0502040204020203" pitchFamily="34" charset="0"/>
              </a:rPr>
              <a:t> bridge the gap between data engineering and data analysis by curating data store assets, ensuring data quality, and enabling self-service analytics.</a:t>
            </a:r>
          </a:p>
          <a:p>
            <a:pPr algn="l"/>
            <a:r>
              <a:rPr lang="en-US" b="1" i="0" dirty="0">
                <a:solidFill>
                  <a:srgbClr val="161616"/>
                </a:solidFill>
                <a:effectLst/>
                <a:latin typeface="Segoe UI" panose="020B0502040204020203" pitchFamily="34" charset="0"/>
              </a:rPr>
              <a:t>Low-to-no-code users</a:t>
            </a:r>
            <a:r>
              <a:rPr lang="en-US" b="0" i="0" dirty="0">
                <a:solidFill>
                  <a:srgbClr val="161616"/>
                </a:solidFill>
                <a:effectLst/>
                <a:latin typeface="Segoe UI" panose="020B0502040204020203" pitchFamily="34" charset="0"/>
              </a:rPr>
              <a:t> and </a:t>
            </a:r>
            <a:r>
              <a:rPr lang="en-US" b="1" i="0" dirty="0">
                <a:solidFill>
                  <a:srgbClr val="161616"/>
                </a:solidFill>
                <a:effectLst/>
                <a:latin typeface="Segoe UI" panose="020B0502040204020203" pitchFamily="34" charset="0"/>
              </a:rPr>
              <a:t>citizen developers</a:t>
            </a:r>
            <a:r>
              <a:rPr lang="en-US" b="0" i="0" dirty="0">
                <a:solidFill>
                  <a:srgbClr val="161616"/>
                </a:solidFill>
                <a:effectLst/>
                <a:latin typeface="Segoe UI" panose="020B0502040204020203" pitchFamily="34" charset="0"/>
              </a:rPr>
              <a:t> can now discover curated data through the </a:t>
            </a:r>
            <a:r>
              <a:rPr lang="en-US" b="0"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hub, and further process and analyze it to suit their needs without being dependent on data engineers or duplicating data.</a:t>
            </a:r>
          </a:p>
          <a:p>
            <a:endParaRPr lang="en-US"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3905628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75E1E-F94B-A83E-8A4A-444CA15673F9}"/>
              </a:ext>
            </a:extLst>
          </p:cNvPr>
          <p:cNvSpPr>
            <a:spLocks noGrp="1"/>
          </p:cNvSpPr>
          <p:nvPr>
            <p:ph type="title"/>
          </p:nvPr>
        </p:nvSpPr>
        <p:spPr/>
        <p:txBody>
          <a:bodyPr/>
          <a:lstStyle/>
          <a:p>
            <a:r>
              <a:rPr lang="en-US" dirty="0"/>
              <a:t>How to Start</a:t>
            </a:r>
          </a:p>
        </p:txBody>
      </p:sp>
      <p:sp>
        <p:nvSpPr>
          <p:cNvPr id="3" name="Content Placeholder 2">
            <a:extLst>
              <a:ext uri="{FF2B5EF4-FFF2-40B4-BE49-F238E27FC236}">
                <a16:creationId xmlns:a16="http://schemas.microsoft.com/office/drawing/2014/main" id="{4297998A-6FF0-A113-0E96-CF9D6C82BA3F}"/>
              </a:ext>
            </a:extLst>
          </p:cNvPr>
          <p:cNvSpPr>
            <a:spLocks noGrp="1"/>
          </p:cNvSpPr>
          <p:nvPr>
            <p:ph idx="1"/>
          </p:nvPr>
        </p:nvSpPr>
        <p:spPr/>
        <p:txBody>
          <a:bodyPr>
            <a:normAutofit fontScale="70000" lnSpcReduction="20000"/>
          </a:bodyPr>
          <a:lstStyle/>
          <a:p>
            <a:pPr algn="l">
              <a:buNone/>
            </a:pPr>
            <a:r>
              <a:rPr lang="en-US" b="0" i="0" dirty="0">
                <a:solidFill>
                  <a:srgbClr val="161616"/>
                </a:solidFill>
                <a:effectLst/>
                <a:latin typeface="Segoe UI" panose="020B0502040204020203" pitchFamily="34" charset="0"/>
              </a:rPr>
              <a:t>Workspaces are collaborative environments where you create and manage items like </a:t>
            </a: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warehouses, and reports. All data is stored in </a:t>
            </a:r>
            <a:r>
              <a:rPr lang="en-US" b="0"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and is accessed through workspaces. Items are displayed in a list or lineage view, which is a visual representation of the dependency between items.</a:t>
            </a:r>
          </a:p>
          <a:p>
            <a:pPr algn="l">
              <a:buNone/>
            </a:pPr>
            <a:r>
              <a:rPr lang="en-US" b="0" i="0" dirty="0">
                <a:solidFill>
                  <a:srgbClr val="161616"/>
                </a:solidFill>
                <a:effectLst/>
                <a:latin typeface="Segoe UI" panose="020B0502040204020203" pitchFamily="34" charset="0"/>
              </a:rPr>
              <a:t>In the </a:t>
            </a:r>
            <a:r>
              <a:rPr lang="en-US" b="0" i="1" dirty="0">
                <a:solidFill>
                  <a:srgbClr val="161616"/>
                </a:solidFill>
                <a:effectLst/>
                <a:latin typeface="Segoe UI" panose="020B0502040204020203" pitchFamily="34" charset="0"/>
              </a:rPr>
              <a:t>Workspace settings</a:t>
            </a:r>
            <a:r>
              <a:rPr lang="en-US" b="0" i="0" dirty="0">
                <a:solidFill>
                  <a:srgbClr val="161616"/>
                </a:solidFill>
                <a:effectLst/>
                <a:latin typeface="Segoe UI" panose="020B0502040204020203" pitchFamily="34" charset="0"/>
              </a:rPr>
              <a:t>, you can configure the license type to use Fabric features. There are several other settings you can configure in this area, some of which include: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OneDrive access for the workspace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Azure Data Lake Gen2 Storage connection</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Integration with Git for version control</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Spark workload settings</a:t>
            </a:r>
          </a:p>
          <a:p>
            <a:pPr>
              <a:buNone/>
            </a:pPr>
            <a:br>
              <a:rPr lang="en-US" dirty="0"/>
            </a:br>
            <a:endParaRPr lang="en-US" dirty="0"/>
          </a:p>
        </p:txBody>
      </p:sp>
    </p:spTree>
    <p:extLst>
      <p:ext uri="{BB962C8B-B14F-4D97-AF65-F5344CB8AC3E}">
        <p14:creationId xmlns:p14="http://schemas.microsoft.com/office/powerpoint/2010/main" val="243925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ABFAB-BA86-A0DC-9167-CB1945F8BF06}"/>
              </a:ext>
            </a:extLst>
          </p:cNvPr>
          <p:cNvSpPr>
            <a:spLocks noGrp="1"/>
          </p:cNvSpPr>
          <p:nvPr>
            <p:ph type="title"/>
          </p:nvPr>
        </p:nvSpPr>
        <p:spPr/>
        <p:txBody>
          <a:bodyPr/>
          <a:lstStyle/>
          <a:p>
            <a:r>
              <a:rPr lang="en-US" dirty="0"/>
              <a:t>Create Fabric items</a:t>
            </a:r>
          </a:p>
        </p:txBody>
      </p:sp>
      <p:sp>
        <p:nvSpPr>
          <p:cNvPr id="3" name="Content Placeholder 2">
            <a:extLst>
              <a:ext uri="{FF2B5EF4-FFF2-40B4-BE49-F238E27FC236}">
                <a16:creationId xmlns:a16="http://schemas.microsoft.com/office/drawing/2014/main" id="{EF6FD585-79FD-92A5-8071-AF4322293133}"/>
              </a:ext>
            </a:extLst>
          </p:cNvPr>
          <p:cNvSpPr>
            <a:spLocks noGrp="1"/>
          </p:cNvSpPr>
          <p:nvPr>
            <p:ph idx="1"/>
          </p:nvPr>
        </p:nvSpPr>
        <p:spPr>
          <a:xfrm>
            <a:off x="838200" y="1825625"/>
            <a:ext cx="4741333" cy="4351338"/>
          </a:xfrm>
        </p:spPr>
        <p:txBody>
          <a:bodyPr>
            <a:normAutofit fontScale="85000" lnSpcReduction="10000"/>
          </a:bodyPr>
          <a:lstStyle/>
          <a:p>
            <a:r>
              <a:rPr lang="en-US" b="0" i="0" dirty="0">
                <a:solidFill>
                  <a:srgbClr val="161616"/>
                </a:solidFill>
                <a:effectLst/>
                <a:latin typeface="Segoe UI" panose="020B0502040204020203" pitchFamily="34" charset="0"/>
              </a:rPr>
              <a:t>You might notice that Fabric workloads look similar to other Microsoft data offerings. Fabric is built on Power BI and Azure Data Lake Storage, and includes capabilities from Azure Synapse Analytics, Azure Data Factory, Azure Databricks, and Azure Machine Learning. What makes Fabric unique is that it brings these capabilities together in a single, SaaS integrated experience without the need for access to Azure resources.</a:t>
            </a:r>
            <a:endParaRPr lang="en-US" dirty="0"/>
          </a:p>
        </p:txBody>
      </p:sp>
      <p:pic>
        <p:nvPicPr>
          <p:cNvPr id="5" name="Picture 4">
            <a:extLst>
              <a:ext uri="{FF2B5EF4-FFF2-40B4-BE49-F238E27FC236}">
                <a16:creationId xmlns:a16="http://schemas.microsoft.com/office/drawing/2014/main" id="{99508A97-1C33-4CE5-D6A4-0B7B56E71584}"/>
              </a:ext>
            </a:extLst>
          </p:cNvPr>
          <p:cNvPicPr>
            <a:picLocks noChangeAspect="1"/>
          </p:cNvPicPr>
          <p:nvPr/>
        </p:nvPicPr>
        <p:blipFill>
          <a:blip r:embed="rId2"/>
          <a:stretch>
            <a:fillRect/>
          </a:stretch>
        </p:blipFill>
        <p:spPr>
          <a:xfrm>
            <a:off x="6772316" y="1825625"/>
            <a:ext cx="3947502" cy="4290432"/>
          </a:xfrm>
          <a:prstGeom prst="rect">
            <a:avLst/>
          </a:prstGeom>
        </p:spPr>
      </p:pic>
    </p:spTree>
    <p:extLst>
      <p:ext uri="{BB962C8B-B14F-4D97-AF65-F5344CB8AC3E}">
        <p14:creationId xmlns:p14="http://schemas.microsoft.com/office/powerpoint/2010/main" val="2590056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2F7B4D-7F66-40D6-AB90-66F9D6BF7097}"/>
              </a:ext>
            </a:extLst>
          </p:cNvPr>
          <p:cNvSpPr/>
          <p:nvPr/>
        </p:nvSpPr>
        <p:spPr>
          <a:xfrm>
            <a:off x="3636307" y="2136338"/>
            <a:ext cx="4428327" cy="2585323"/>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OVERVIEW OF </a:t>
            </a:r>
          </a:p>
          <a:p>
            <a:pPr algn="ctr"/>
            <a:r>
              <a:rPr lang="en-US" sz="5400" b="1" cap="none" spc="0" dirty="0">
                <a:ln w="22225">
                  <a:solidFill>
                    <a:schemeClr val="accent2"/>
                  </a:solidFill>
                  <a:prstDash val="solid"/>
                </a:ln>
                <a:solidFill>
                  <a:schemeClr val="accent2">
                    <a:lumMod val="40000"/>
                    <a:lumOff val="60000"/>
                  </a:schemeClr>
                </a:solidFill>
                <a:effectLst/>
              </a:rPr>
              <a:t>MICROSOFT </a:t>
            </a:r>
          </a:p>
          <a:p>
            <a:pPr algn="ctr"/>
            <a:r>
              <a:rPr lang="en-US" sz="5400" b="1" dirty="0">
                <a:ln w="22225">
                  <a:solidFill>
                    <a:schemeClr val="accent2"/>
                  </a:solidFill>
                  <a:prstDash val="solid"/>
                </a:ln>
                <a:solidFill>
                  <a:schemeClr val="accent2">
                    <a:lumMod val="40000"/>
                    <a:lumOff val="60000"/>
                  </a:schemeClr>
                </a:solidFill>
              </a:rPr>
              <a:t>FABRIC</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555921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505</Words>
  <Application>Microsoft Office PowerPoint</Application>
  <PresentationFormat>Widescreen</PresentationFormat>
  <Paragraphs>31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Segoe UI</vt:lpstr>
      <vt:lpstr>Office Theme</vt:lpstr>
      <vt:lpstr>Direct lake and Power BI</vt:lpstr>
      <vt:lpstr>Capabilities</vt:lpstr>
      <vt:lpstr>PowerPoint Presentation</vt:lpstr>
      <vt:lpstr>Components of Microsoft Fabric</vt:lpstr>
      <vt:lpstr>PowerPoint Presentation</vt:lpstr>
      <vt:lpstr>Evaluation of workflow </vt:lpstr>
      <vt:lpstr>How to Start</vt:lpstr>
      <vt:lpstr>Create Fabric items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Amrita Helwade</dc:creator>
  <cp:lastModifiedBy>Amrita Helwade</cp:lastModifiedBy>
  <cp:revision>4</cp:revision>
  <dcterms:created xsi:type="dcterms:W3CDTF">2025-03-14T09:36:16Z</dcterms:created>
  <dcterms:modified xsi:type="dcterms:W3CDTF">2025-03-27T05:07:17Z</dcterms:modified>
</cp:coreProperties>
</file>