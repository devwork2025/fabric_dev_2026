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4" r:id="rId4"/>
    <p:sldId id="259" r:id="rId5"/>
    <p:sldId id="260" r:id="rId6"/>
    <p:sldId id="265" r:id="rId7"/>
    <p:sldId id="266" r:id="rId8"/>
    <p:sldId id="271" r:id="rId9"/>
    <p:sldId id="268" r:id="rId10"/>
    <p:sldId id="272" r:id="rId11"/>
    <p:sldId id="273" r:id="rId12"/>
    <p:sldId id="274" r:id="rId13"/>
    <p:sldId id="276" r:id="rId14"/>
    <p:sldId id="277" r:id="rId15"/>
    <p:sldId id="290" r:id="rId16"/>
    <p:sldId id="291" r:id="rId17"/>
    <p:sldId id="292" r:id="rId18"/>
    <p:sldId id="293" r:id="rId19"/>
    <p:sldId id="294" r:id="rId20"/>
    <p:sldId id="269" r:id="rId21"/>
    <p:sldId id="279" r:id="rId22"/>
    <p:sldId id="280" r:id="rId23"/>
    <p:sldId id="281" r:id="rId24"/>
    <p:sldId id="295" r:id="rId25"/>
    <p:sldId id="296" r:id="rId26"/>
    <p:sldId id="297" r:id="rId27"/>
    <p:sldId id="298" r:id="rId28"/>
    <p:sldId id="282" r:id="rId29"/>
    <p:sldId id="299" r:id="rId30"/>
    <p:sldId id="302" r:id="rId31"/>
    <p:sldId id="300" r:id="rId32"/>
    <p:sldId id="301" r:id="rId33"/>
    <p:sldId id="324" r:id="rId34"/>
    <p:sldId id="325" r:id="rId35"/>
    <p:sldId id="32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5T02:14:35.598"/>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132 0,'79'2,"0"3,0 4,119 29,-179-33,1 1,-1 0,31 16,-40-16,-1-1,0 1,0 1,0 0,-1 0,0 1,-1-1,11 15,-3-2,-9-14,-1 0,-1 1,1-1,-1 1,6 14,-10-21,0 1,0-1,0 1,0 0,1-1,-1 1,-1 0,1-1,0 1,0 0,0-1,0 1,0-1,0 1,-1 0,1-1,0 1,-1-1,1 1,0 0,-1-1,1 1,-1-1,1 0,0 1,-1-1,1 1,-1-1,0 0,1 1,-1-1,1 0,-1 1,1-1,-1 0,0 0,1 0,-1 0,0 1,-29 3,26-4,-189 0,122-2,-135 12,148 0,27-4,-1-1,0-2,-49-1,79-2,-1 0,1 0,-1 0,1-1,0 1,-1-1,1 0,-1 0,1 0,0 0,0 0,0 0,0 0,0-1,0 1,0-1,0 1,0-1,1 0,-1 0,0 0,1 0,0 0,-1 0,1 0,0-1,0 1,1 0,-1 0,-1-4,1-5,0 0,1 0,0-1,0 1,4-17,-1-1,-1-9,0 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1E9FF-669C-4D4B-B33E-AD0561B360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721056-3DE6-4142-96BA-E979D3B294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6739B9D-F41A-4EF3-9998-E5B9A2351024}"/>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5" name="Footer Placeholder 4">
            <a:extLst>
              <a:ext uri="{FF2B5EF4-FFF2-40B4-BE49-F238E27FC236}">
                <a16:creationId xmlns:a16="http://schemas.microsoft.com/office/drawing/2014/main" id="{C9CD4BF9-E948-4E4D-AFBB-D076242F35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06F29A-3D70-4BE6-9C9B-56740685C97B}"/>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2859265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DFF19-DB47-4EAF-878B-BD426D8EFF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08C5B4-4EE4-471A-9225-2488637FDA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1ED2AA-EA0E-4A3D-8A14-1717A684BC03}"/>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5" name="Footer Placeholder 4">
            <a:extLst>
              <a:ext uri="{FF2B5EF4-FFF2-40B4-BE49-F238E27FC236}">
                <a16:creationId xmlns:a16="http://schemas.microsoft.com/office/drawing/2014/main" id="{FEE18EA9-3C40-4879-9D3D-51F583AB0B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177025-D490-4847-8FB6-61B85E60580F}"/>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176491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DD8A4-428C-4BB2-B35D-62057D3964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BFC870F-683E-4385-BCCA-B6B345AA58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2C9DA6-EAA1-4DEF-AF94-194A5BDFE7D9}"/>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5" name="Footer Placeholder 4">
            <a:extLst>
              <a:ext uri="{FF2B5EF4-FFF2-40B4-BE49-F238E27FC236}">
                <a16:creationId xmlns:a16="http://schemas.microsoft.com/office/drawing/2014/main" id="{75812C49-A68A-46D4-97CD-72587E7D83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6745EF-A198-4611-A067-75FC018C5678}"/>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1347990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6327E-2DD9-4808-9861-9BDE6E70DE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5514B3-8207-4D30-9F13-71D9DB2B38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398FEF8-9FA2-4CA3-88DB-2D92517693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32623A0-C821-42E0-BD4F-8D6992152AA4}"/>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6" name="Footer Placeholder 5">
            <a:extLst>
              <a:ext uri="{FF2B5EF4-FFF2-40B4-BE49-F238E27FC236}">
                <a16:creationId xmlns:a16="http://schemas.microsoft.com/office/drawing/2014/main" id="{8D81E3E4-7193-43DD-B015-FF890F179B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69E948-5AA9-475B-BA49-9469A81A6FBB}"/>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2750153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F5BF-8884-4DFB-9E5B-CECDB07BAF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416CDA-03B6-4CD9-8FCF-7233A0B06F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995F7F-5107-4A8C-99CF-517C367A49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7A9A3A-C205-4278-86C4-0CB9A256C2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F9F13A-E493-41D6-8F77-9B624071E5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931B28-7FBA-4AC3-B258-15FBB3D33BBB}"/>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8" name="Footer Placeholder 7">
            <a:extLst>
              <a:ext uri="{FF2B5EF4-FFF2-40B4-BE49-F238E27FC236}">
                <a16:creationId xmlns:a16="http://schemas.microsoft.com/office/drawing/2014/main" id="{27BA8518-1C3A-4D41-9CC5-D5E1987621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EC0E85-6CDE-48EC-BDA2-9E48CA08B01B}"/>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3968280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D8740-B70C-4CEB-B7F1-B1D8E0DD43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59C0253-DB98-4613-A94D-EBCE13A0CC0B}"/>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4" name="Footer Placeholder 3">
            <a:extLst>
              <a:ext uri="{FF2B5EF4-FFF2-40B4-BE49-F238E27FC236}">
                <a16:creationId xmlns:a16="http://schemas.microsoft.com/office/drawing/2014/main" id="{783D5045-526F-4080-851F-46A6F035B1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1AC61B-B9F4-4CAD-BFC1-B7ECDFFF667F}"/>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342776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919D9-8D0D-4F64-9FCE-87129239EBDB}"/>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3" name="Footer Placeholder 2">
            <a:extLst>
              <a:ext uri="{FF2B5EF4-FFF2-40B4-BE49-F238E27FC236}">
                <a16:creationId xmlns:a16="http://schemas.microsoft.com/office/drawing/2014/main" id="{BF558AB9-CF5C-41CC-BDC0-A7AA37C903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CF400F-2DE4-4DA5-BF5A-C12CA6E40131}"/>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112839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C6C9E-D7DA-4CBA-B0D8-02AF6B6C61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EA3F51-CD47-416B-BC2B-11D3D67F66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17CB692-80AE-493F-992A-EC7B92ADA6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50386-095C-4921-811A-44FA4B40F918}"/>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6" name="Footer Placeholder 5">
            <a:extLst>
              <a:ext uri="{FF2B5EF4-FFF2-40B4-BE49-F238E27FC236}">
                <a16:creationId xmlns:a16="http://schemas.microsoft.com/office/drawing/2014/main" id="{BA379941-AA9B-4745-B71A-3B500C26CE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A15746-579A-472E-BEC0-89E6812C7099}"/>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2429868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63B3F-F516-41E0-BBBA-16B169CCBC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D21108-D121-499D-8F96-4CBAFE4404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CE1CF23-C2F2-41C0-8D21-A14122138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46145-B5FF-4BA0-B325-06F4AD79A5B1}"/>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6" name="Footer Placeholder 5">
            <a:extLst>
              <a:ext uri="{FF2B5EF4-FFF2-40B4-BE49-F238E27FC236}">
                <a16:creationId xmlns:a16="http://schemas.microsoft.com/office/drawing/2014/main" id="{F5B7C7A1-9053-419E-B1C8-9A46E0F541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A3953D-21ED-4A23-AE14-587BA2AD95E3}"/>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4290112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F9B31-DC14-4E6F-B468-2ECE08CB83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D4232C-421B-4689-A9B9-61BDD4CECC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2065E5-BD05-480C-A7DD-DC4675AA88D7}"/>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5" name="Footer Placeholder 4">
            <a:extLst>
              <a:ext uri="{FF2B5EF4-FFF2-40B4-BE49-F238E27FC236}">
                <a16:creationId xmlns:a16="http://schemas.microsoft.com/office/drawing/2014/main" id="{9726BB64-0D14-46B1-A44B-4A77928721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FC8993-001B-40C9-B738-FF1E2120FB35}"/>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284523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E8272F-D089-4F2D-983F-535827CA51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A8C3C8-937A-4AE7-8389-20E86F3F67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21D91D-8678-4E81-890D-8D08AD68D017}"/>
              </a:ext>
            </a:extLst>
          </p:cNvPr>
          <p:cNvSpPr>
            <a:spLocks noGrp="1"/>
          </p:cNvSpPr>
          <p:nvPr>
            <p:ph type="dt" sz="half" idx="10"/>
          </p:nvPr>
        </p:nvSpPr>
        <p:spPr/>
        <p:txBody>
          <a:bodyPr/>
          <a:lstStyle/>
          <a:p>
            <a:fld id="{1BD92EDB-3D78-48D3-AEA6-DE631A5B9611}" type="datetimeFigureOut">
              <a:rPr lang="en-IN" smtClean="0"/>
              <a:t>15-02-2026</a:t>
            </a:fld>
            <a:endParaRPr lang="en-IN"/>
          </a:p>
        </p:txBody>
      </p:sp>
      <p:sp>
        <p:nvSpPr>
          <p:cNvPr id="5" name="Footer Placeholder 4">
            <a:extLst>
              <a:ext uri="{FF2B5EF4-FFF2-40B4-BE49-F238E27FC236}">
                <a16:creationId xmlns:a16="http://schemas.microsoft.com/office/drawing/2014/main" id="{6BBA6120-DF0D-4A50-BFD6-C3D32B6F0C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7B1186-C997-4888-9AA8-35174424000B}"/>
              </a:ext>
            </a:extLst>
          </p:cNvPr>
          <p:cNvSpPr>
            <a:spLocks noGrp="1"/>
          </p:cNvSpPr>
          <p:nvPr>
            <p:ph type="sldNum" sz="quarter" idx="12"/>
          </p:nvPr>
        </p:nvSpPr>
        <p:spPr/>
        <p:txBody>
          <a:bodyPr/>
          <a:lstStyle/>
          <a:p>
            <a:fld id="{B7C3738B-88D3-49E2-92B0-667463A55E27}" type="slidenum">
              <a:rPr lang="en-IN" smtClean="0"/>
              <a:t>‹#›</a:t>
            </a:fld>
            <a:endParaRPr lang="en-IN"/>
          </a:p>
        </p:txBody>
      </p:sp>
    </p:spTree>
    <p:extLst>
      <p:ext uri="{BB962C8B-B14F-4D97-AF65-F5344CB8AC3E}">
        <p14:creationId xmlns:p14="http://schemas.microsoft.com/office/powerpoint/2010/main" val="2960111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2D4F43-D195-4814-B6E0-4B34C1B2BA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1449A7-B62A-45DA-AB92-AE330E06DE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D0B2B7-8023-4500-B4DD-ED76D3C679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D92EDB-3D78-48D3-AEA6-DE631A5B9611}" type="datetimeFigureOut">
              <a:rPr lang="en-IN" smtClean="0"/>
              <a:t>15-02-2026</a:t>
            </a:fld>
            <a:endParaRPr lang="en-IN"/>
          </a:p>
        </p:txBody>
      </p:sp>
      <p:sp>
        <p:nvSpPr>
          <p:cNvPr id="5" name="Footer Placeholder 4">
            <a:extLst>
              <a:ext uri="{FF2B5EF4-FFF2-40B4-BE49-F238E27FC236}">
                <a16:creationId xmlns:a16="http://schemas.microsoft.com/office/drawing/2014/main" id="{0CD219BE-CD4C-47B2-B57B-BCD8F060CF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5DE1198-66D8-4B6A-9EB7-0306D6B4E6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C3738B-88D3-49E2-92B0-667463A55E27}" type="slidenum">
              <a:rPr lang="en-IN" smtClean="0"/>
              <a:t>‹#›</a:t>
            </a:fld>
            <a:endParaRPr lang="en-IN"/>
          </a:p>
        </p:txBody>
      </p:sp>
    </p:spTree>
    <p:extLst>
      <p:ext uri="{BB962C8B-B14F-4D97-AF65-F5344CB8AC3E}">
        <p14:creationId xmlns:p14="http://schemas.microsoft.com/office/powerpoint/2010/main" val="2827583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hyperlink" Target="https://learn.microsoft.com/en-us/fabric/fundamentals/fabric-terminology"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000D9-FDA2-467B-A010-4BD8D29F67A6}"/>
              </a:ext>
            </a:extLst>
          </p:cNvPr>
          <p:cNvSpPr>
            <a:spLocks noGrp="1"/>
          </p:cNvSpPr>
          <p:nvPr>
            <p:ph type="ctrTitle"/>
          </p:nvPr>
        </p:nvSpPr>
        <p:spPr/>
        <p:txBody>
          <a:bodyPr/>
          <a:lstStyle/>
          <a:p>
            <a:r>
              <a:rPr lang="en-US" dirty="0"/>
              <a:t>Intro-2</a:t>
            </a:r>
            <a:endParaRPr lang="en-IN" dirty="0"/>
          </a:p>
        </p:txBody>
      </p:sp>
      <p:sp>
        <p:nvSpPr>
          <p:cNvPr id="3" name="Subtitle 2">
            <a:extLst>
              <a:ext uri="{FF2B5EF4-FFF2-40B4-BE49-F238E27FC236}">
                <a16:creationId xmlns:a16="http://schemas.microsoft.com/office/drawing/2014/main" id="{502E89B0-3A36-4018-BA61-EA47B0C2522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86402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2D38B-29A6-F742-44D1-82EA3C5575A8}"/>
              </a:ext>
            </a:extLst>
          </p:cNvPr>
          <p:cNvSpPr>
            <a:spLocks noGrp="1"/>
          </p:cNvSpPr>
          <p:nvPr>
            <p:ph type="title"/>
          </p:nvPr>
        </p:nvSpPr>
        <p:spPr/>
        <p:txBody>
          <a:bodyPr/>
          <a:lstStyle/>
          <a:p>
            <a:r>
              <a:rPr lang="en-US" dirty="0"/>
              <a:t>Create the free account and tenant settings</a:t>
            </a:r>
          </a:p>
        </p:txBody>
      </p:sp>
      <p:sp>
        <p:nvSpPr>
          <p:cNvPr id="3" name="Content Placeholder 2">
            <a:extLst>
              <a:ext uri="{FF2B5EF4-FFF2-40B4-BE49-F238E27FC236}">
                <a16:creationId xmlns:a16="http://schemas.microsoft.com/office/drawing/2014/main" id="{206DE9FA-B721-B15E-B57D-2F9BC3B9CCF0}"/>
              </a:ext>
            </a:extLst>
          </p:cNvPr>
          <p:cNvSpPr>
            <a:spLocks noGrp="1"/>
          </p:cNvSpPr>
          <p:nvPr>
            <p:ph idx="1"/>
          </p:nvPr>
        </p:nvSpPr>
        <p:spPr/>
        <p:txBody>
          <a:bodyPr/>
          <a:lstStyle/>
          <a:p>
            <a:r>
              <a:rPr lang="en-US" dirty="0"/>
              <a:t>Go to settings</a:t>
            </a:r>
          </a:p>
          <a:p>
            <a:r>
              <a:rPr lang="en-US" dirty="0"/>
              <a:t>Nevigate to admin portal</a:t>
            </a:r>
          </a:p>
          <a:p>
            <a:r>
              <a:rPr lang="en-US" dirty="0"/>
              <a:t>Untick Microsoft default connection</a:t>
            </a:r>
          </a:p>
          <a:p>
            <a:r>
              <a:rPr lang="en-US" dirty="0"/>
              <a:t>Click on the enable button</a:t>
            </a:r>
          </a:p>
          <a:p>
            <a:endParaRPr lang="en-US" dirty="0"/>
          </a:p>
          <a:p>
            <a:endParaRPr lang="en-US" dirty="0"/>
          </a:p>
          <a:p>
            <a:endParaRPr lang="en-US" dirty="0"/>
          </a:p>
        </p:txBody>
      </p:sp>
    </p:spTree>
    <p:extLst>
      <p:ext uri="{BB962C8B-B14F-4D97-AF65-F5344CB8AC3E}">
        <p14:creationId xmlns:p14="http://schemas.microsoft.com/office/powerpoint/2010/main" val="458761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8A2A86-8F75-47C3-49AA-92547138506C}"/>
              </a:ext>
            </a:extLst>
          </p:cNvPr>
          <p:cNvPicPr>
            <a:picLocks noChangeAspect="1"/>
          </p:cNvPicPr>
          <p:nvPr/>
        </p:nvPicPr>
        <p:blipFill>
          <a:blip r:embed="rId2"/>
          <a:srcRect l="540" t="7839" r="-2007" b="7839"/>
          <a:stretch/>
        </p:blipFill>
        <p:spPr>
          <a:xfrm>
            <a:off x="668866" y="537633"/>
            <a:ext cx="11133667" cy="5782734"/>
          </a:xfrm>
          <a:prstGeom prst="rect">
            <a:avLst/>
          </a:prstGeom>
        </p:spPr>
      </p:pic>
    </p:spTree>
    <p:extLst>
      <p:ext uri="{BB962C8B-B14F-4D97-AF65-F5344CB8AC3E}">
        <p14:creationId xmlns:p14="http://schemas.microsoft.com/office/powerpoint/2010/main" val="2429356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484D5-6EED-BA79-326F-12949557436D}"/>
              </a:ext>
            </a:extLst>
          </p:cNvPr>
          <p:cNvSpPr>
            <a:spLocks noGrp="1"/>
          </p:cNvSpPr>
          <p:nvPr>
            <p:ph type="title"/>
          </p:nvPr>
        </p:nvSpPr>
        <p:spPr/>
        <p:txBody>
          <a:bodyPr/>
          <a:lstStyle/>
          <a:p>
            <a:r>
              <a:rPr lang="en-US" dirty="0"/>
              <a:t>Key highlights</a:t>
            </a:r>
          </a:p>
        </p:txBody>
      </p:sp>
      <p:sp>
        <p:nvSpPr>
          <p:cNvPr id="3" name="Content Placeholder 2">
            <a:extLst>
              <a:ext uri="{FF2B5EF4-FFF2-40B4-BE49-F238E27FC236}">
                <a16:creationId xmlns:a16="http://schemas.microsoft.com/office/drawing/2014/main" id="{1761DFBE-33EA-EABB-281D-7F4E498331D1}"/>
              </a:ext>
            </a:extLst>
          </p:cNvPr>
          <p:cNvSpPr>
            <a:spLocks noGrp="1"/>
          </p:cNvSpPr>
          <p:nvPr>
            <p:ph idx="1"/>
          </p:nvPr>
        </p:nvSpPr>
        <p:spPr/>
        <p:txBody>
          <a:bodyPr/>
          <a:lstStyle/>
          <a:p>
            <a:r>
              <a:rPr lang="en-US" dirty="0"/>
              <a:t>One copy</a:t>
            </a:r>
          </a:p>
          <a:p>
            <a:r>
              <a:rPr lang="en-US" dirty="0"/>
              <a:t>One lake</a:t>
            </a:r>
          </a:p>
          <a:p>
            <a:r>
              <a:rPr lang="en-US" dirty="0"/>
              <a:t>Unified integrated environment</a:t>
            </a:r>
          </a:p>
          <a:p>
            <a:r>
              <a:rPr lang="en-US" dirty="0"/>
              <a:t>One security</a:t>
            </a:r>
          </a:p>
          <a:p>
            <a:r>
              <a:rPr lang="en-US" dirty="0"/>
              <a:t>One compute</a:t>
            </a:r>
          </a:p>
        </p:txBody>
      </p:sp>
    </p:spTree>
    <p:extLst>
      <p:ext uri="{BB962C8B-B14F-4D97-AF65-F5344CB8AC3E}">
        <p14:creationId xmlns:p14="http://schemas.microsoft.com/office/powerpoint/2010/main" val="3905628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75E1E-F94B-A83E-8A4A-444CA15673F9}"/>
              </a:ext>
            </a:extLst>
          </p:cNvPr>
          <p:cNvSpPr>
            <a:spLocks noGrp="1"/>
          </p:cNvSpPr>
          <p:nvPr>
            <p:ph type="title"/>
          </p:nvPr>
        </p:nvSpPr>
        <p:spPr/>
        <p:txBody>
          <a:bodyPr/>
          <a:lstStyle/>
          <a:p>
            <a:r>
              <a:rPr lang="en-US" dirty="0"/>
              <a:t>One lake</a:t>
            </a:r>
          </a:p>
        </p:txBody>
      </p:sp>
      <p:sp>
        <p:nvSpPr>
          <p:cNvPr id="3" name="Content Placeholder 2">
            <a:extLst>
              <a:ext uri="{FF2B5EF4-FFF2-40B4-BE49-F238E27FC236}">
                <a16:creationId xmlns:a16="http://schemas.microsoft.com/office/drawing/2014/main" id="{4297998A-6FF0-A113-0E96-CF9D6C82BA3F}"/>
              </a:ext>
            </a:extLst>
          </p:cNvPr>
          <p:cNvSpPr>
            <a:spLocks noGrp="1"/>
          </p:cNvSpPr>
          <p:nvPr>
            <p:ph idx="1"/>
          </p:nvPr>
        </p:nvSpPr>
        <p:spPr/>
        <p:txBody>
          <a:bodyPr>
            <a:normAutofit fontScale="92500" lnSpcReduction="20000"/>
          </a:bodyPr>
          <a:lstStyle/>
          <a:p>
            <a:r>
              <a:rPr lang="en-US" dirty="0"/>
              <a:t>Microsoft fabric’s foundation lies in the data lake, which is also known as </a:t>
            </a:r>
            <a:r>
              <a:rPr lang="en-US" dirty="0" err="1"/>
              <a:t>OneLake</a:t>
            </a:r>
            <a:r>
              <a:rPr lang="en-US" dirty="0"/>
              <a:t>.</a:t>
            </a:r>
          </a:p>
          <a:p>
            <a:r>
              <a:rPr lang="en-US" dirty="0"/>
              <a:t>One lake is the integral part of Microsoft fabric service, providing a centralized location to store all organizational data, ensuring seamless operation across various experiences.</a:t>
            </a:r>
          </a:p>
          <a:p>
            <a:r>
              <a:rPr lang="en-US" dirty="0" err="1"/>
              <a:t>OneLake</a:t>
            </a:r>
            <a:r>
              <a:rPr lang="en-US" dirty="0"/>
              <a:t> is similar to OneDrive is automatically included with </a:t>
            </a:r>
            <a:r>
              <a:rPr lang="en-US" dirty="0" err="1"/>
              <a:t>evry</a:t>
            </a:r>
            <a:r>
              <a:rPr lang="en-US" dirty="0"/>
              <a:t> Microsoft Fabric tenant. It serves as the single repository for all analytics data, catering to entire organization.</a:t>
            </a:r>
          </a:p>
          <a:p>
            <a:r>
              <a:rPr lang="en-US" dirty="0"/>
              <a:t>This logical data lake, </a:t>
            </a:r>
            <a:r>
              <a:rPr lang="en-US" dirty="0" err="1"/>
              <a:t>OneLake</a:t>
            </a:r>
            <a:r>
              <a:rPr lang="en-US" dirty="0"/>
              <a:t>, is build on top of ADLS Gen2 , offering a unified Software as a Service experience for professional and citizen developer.</a:t>
            </a:r>
          </a:p>
          <a:p>
            <a:r>
              <a:rPr lang="en-US" dirty="0"/>
              <a:t>One lake is available in delta parquet format</a:t>
            </a:r>
          </a:p>
        </p:txBody>
      </p:sp>
    </p:spTree>
    <p:extLst>
      <p:ext uri="{BB962C8B-B14F-4D97-AF65-F5344CB8AC3E}">
        <p14:creationId xmlns:p14="http://schemas.microsoft.com/office/powerpoint/2010/main" val="2439259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36776-B292-E4AE-2214-889ED81AE65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8A17307-F673-D189-E719-35EDB4203765}"/>
              </a:ext>
            </a:extLst>
          </p:cNvPr>
          <p:cNvSpPr>
            <a:spLocks noGrp="1"/>
          </p:cNvSpPr>
          <p:nvPr>
            <p:ph idx="1"/>
          </p:nvPr>
        </p:nvSpPr>
        <p:spPr/>
        <p:txBody>
          <a:bodyPr>
            <a:normAutofit lnSpcReduction="10000"/>
          </a:bodyPr>
          <a:lstStyle/>
          <a:p>
            <a:r>
              <a:rPr lang="en-US" dirty="0"/>
              <a:t>Microsoft fabric provides the integrated platform.</a:t>
            </a:r>
          </a:p>
          <a:p>
            <a:r>
              <a:rPr lang="en-US" dirty="0"/>
              <a:t>Various tools like data frame, data factory </a:t>
            </a:r>
            <a:r>
              <a:rPr lang="en-US" dirty="0" err="1"/>
              <a:t>etc</a:t>
            </a:r>
            <a:r>
              <a:rPr lang="en-US" dirty="0"/>
              <a:t> remains the same but the entire data is going to stay on </a:t>
            </a:r>
            <a:r>
              <a:rPr lang="en-US" dirty="0" err="1"/>
              <a:t>OneLake</a:t>
            </a:r>
            <a:r>
              <a:rPr lang="en-US" dirty="0"/>
              <a:t> via </a:t>
            </a:r>
            <a:r>
              <a:rPr lang="en-US" dirty="0" err="1"/>
              <a:t>LakeHouse</a:t>
            </a:r>
            <a:r>
              <a:rPr lang="en-US" dirty="0"/>
              <a:t> and </a:t>
            </a:r>
          </a:p>
          <a:p>
            <a:r>
              <a:rPr lang="en-US" dirty="0"/>
              <a:t>All the engines have been modified and optimized the data parquet files </a:t>
            </a:r>
          </a:p>
          <a:p>
            <a:r>
              <a:rPr lang="en-US" dirty="0"/>
              <a:t>For example: Data is available from data flow -&gt; data pipeline and land it on the lake house immediately data is available to the end user via Power BI</a:t>
            </a:r>
          </a:p>
          <a:p>
            <a:r>
              <a:rPr lang="en-US" dirty="0"/>
              <a:t>Lake house is the SQL end point used to query the data. Ware house is available for read and write the SQL</a:t>
            </a:r>
          </a:p>
        </p:txBody>
      </p:sp>
    </p:spTree>
    <p:extLst>
      <p:ext uri="{BB962C8B-B14F-4D97-AF65-F5344CB8AC3E}">
        <p14:creationId xmlns:p14="http://schemas.microsoft.com/office/powerpoint/2010/main" val="1522693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05BC0-0F99-A495-BA06-BD6BB665BFC8}"/>
              </a:ext>
            </a:extLst>
          </p:cNvPr>
          <p:cNvSpPr>
            <a:spLocks noGrp="1"/>
          </p:cNvSpPr>
          <p:nvPr>
            <p:ph type="title"/>
          </p:nvPr>
        </p:nvSpPr>
        <p:spPr/>
        <p:txBody>
          <a:bodyPr/>
          <a:lstStyle/>
          <a:p>
            <a:r>
              <a:rPr lang="en-US" dirty="0" err="1"/>
              <a:t>LakeHouse</a:t>
            </a:r>
            <a:endParaRPr lang="en-US" dirty="0"/>
          </a:p>
        </p:txBody>
      </p:sp>
      <p:sp>
        <p:nvSpPr>
          <p:cNvPr id="3" name="Content Placeholder 2">
            <a:extLst>
              <a:ext uri="{FF2B5EF4-FFF2-40B4-BE49-F238E27FC236}">
                <a16:creationId xmlns:a16="http://schemas.microsoft.com/office/drawing/2014/main" id="{E42237C0-8F5F-A69A-69F8-3F09F2B8887B}"/>
              </a:ext>
            </a:extLst>
          </p:cNvPr>
          <p:cNvSpPr>
            <a:spLocks noGrp="1"/>
          </p:cNvSpPr>
          <p:nvPr>
            <p:ph idx="1"/>
          </p:nvPr>
        </p:nvSpPr>
        <p:spPr/>
        <p:txBody>
          <a:bodyPr/>
          <a:lstStyle/>
          <a:p>
            <a:r>
              <a:rPr lang="en-US" dirty="0"/>
              <a:t>Microsoft Fabric </a:t>
            </a:r>
            <a:r>
              <a:rPr lang="en-US" dirty="0" err="1"/>
              <a:t>LakeHouse</a:t>
            </a:r>
            <a:r>
              <a:rPr lang="en-US" dirty="0"/>
              <a:t>  is cutting-edge data architecture platform designed to effectively store manage and analyze both structured and unstructured data within a unified storage system</a:t>
            </a:r>
          </a:p>
          <a:p>
            <a:r>
              <a:rPr lang="en-US" dirty="0"/>
              <a:t>By seamlessly integrating structured and unstructured data, the </a:t>
            </a:r>
            <a:r>
              <a:rPr lang="en-US" dirty="0" err="1"/>
              <a:t>lakehouse</a:t>
            </a:r>
            <a:r>
              <a:rPr lang="en-US" dirty="0"/>
              <a:t> enables organizations to derive valuable insights from their data assets in a single, consolidated location</a:t>
            </a:r>
          </a:p>
          <a:p>
            <a:r>
              <a:rPr lang="en-US" dirty="0"/>
              <a:t>Lakehouse simplifies data access through the automatic generation of read-only SQL endpoint and default dataset upon creation</a:t>
            </a:r>
          </a:p>
          <a:p>
            <a:r>
              <a:rPr lang="en-US" dirty="0"/>
              <a:t>This SQL endpoint provides user with convenient access to the data for analysis and querying purposes</a:t>
            </a:r>
          </a:p>
        </p:txBody>
      </p:sp>
    </p:spTree>
    <p:extLst>
      <p:ext uri="{BB962C8B-B14F-4D97-AF65-F5344CB8AC3E}">
        <p14:creationId xmlns:p14="http://schemas.microsoft.com/office/powerpoint/2010/main" val="402212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322E-F145-F10A-CAD9-FDE056A85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541ED-3A36-828A-1C68-68BC32D92B65}"/>
              </a:ext>
            </a:extLst>
          </p:cNvPr>
          <p:cNvSpPr>
            <a:spLocks noGrp="1"/>
          </p:cNvSpPr>
          <p:nvPr>
            <p:ph type="title"/>
          </p:nvPr>
        </p:nvSpPr>
        <p:spPr/>
        <p:txBody>
          <a:bodyPr/>
          <a:lstStyle/>
          <a:p>
            <a:r>
              <a:rPr lang="en-US" dirty="0"/>
              <a:t>Components of Fabric</a:t>
            </a:r>
          </a:p>
        </p:txBody>
      </p:sp>
      <p:sp>
        <p:nvSpPr>
          <p:cNvPr id="3" name="Content Placeholder 2">
            <a:extLst>
              <a:ext uri="{FF2B5EF4-FFF2-40B4-BE49-F238E27FC236}">
                <a16:creationId xmlns:a16="http://schemas.microsoft.com/office/drawing/2014/main" id="{C68FE299-B254-AF51-5DA3-2A4941831FAB}"/>
              </a:ext>
            </a:extLst>
          </p:cNvPr>
          <p:cNvSpPr>
            <a:spLocks noGrp="1"/>
          </p:cNvSpPr>
          <p:nvPr>
            <p:ph idx="1"/>
          </p:nvPr>
        </p:nvSpPr>
        <p:spPr/>
        <p:txBody>
          <a:bodyPr>
            <a:normAutofit/>
          </a:bodyPr>
          <a:lstStyle/>
          <a:p>
            <a:r>
              <a:rPr lang="en-US" dirty="0"/>
              <a:t>Data Engineering</a:t>
            </a:r>
          </a:p>
          <a:p>
            <a:r>
              <a:rPr lang="en-US" dirty="0"/>
              <a:t>Data Factory</a:t>
            </a:r>
          </a:p>
          <a:p>
            <a:r>
              <a:rPr lang="en-US" dirty="0"/>
              <a:t>Data Science </a:t>
            </a:r>
          </a:p>
          <a:p>
            <a:r>
              <a:rPr lang="en-US" dirty="0"/>
              <a:t>Data Warehouse</a:t>
            </a:r>
          </a:p>
          <a:p>
            <a:r>
              <a:rPr lang="en-US" dirty="0"/>
              <a:t>Real-Times Analytics</a:t>
            </a:r>
          </a:p>
          <a:p>
            <a:r>
              <a:rPr lang="en-US" dirty="0" err="1"/>
              <a:t>PowerBI</a:t>
            </a:r>
            <a:endParaRPr lang="en-US" dirty="0"/>
          </a:p>
        </p:txBody>
      </p:sp>
    </p:spTree>
    <p:extLst>
      <p:ext uri="{BB962C8B-B14F-4D97-AF65-F5344CB8AC3E}">
        <p14:creationId xmlns:p14="http://schemas.microsoft.com/office/powerpoint/2010/main" val="2327937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C681F84-C08C-1BF0-AE5D-4B6F96BB97FE}"/>
              </a:ext>
            </a:extLst>
          </p:cNvPr>
          <p:cNvPicPr>
            <a:picLocks noChangeAspect="1"/>
          </p:cNvPicPr>
          <p:nvPr/>
        </p:nvPicPr>
        <p:blipFill>
          <a:blip r:embed="rId2"/>
          <a:srcRect l="1070" t="8815" b="7206"/>
          <a:stretch/>
        </p:blipFill>
        <p:spPr>
          <a:xfrm>
            <a:off x="635000" y="609600"/>
            <a:ext cx="10947400" cy="5808133"/>
          </a:xfrm>
          <a:prstGeom prst="rect">
            <a:avLst/>
          </a:prstGeom>
        </p:spPr>
      </p:pic>
    </p:spTree>
    <p:extLst>
      <p:ext uri="{BB962C8B-B14F-4D97-AF65-F5344CB8AC3E}">
        <p14:creationId xmlns:p14="http://schemas.microsoft.com/office/powerpoint/2010/main" val="2779109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B204F-5737-CEA8-0634-C24EC3DA9E83}"/>
              </a:ext>
            </a:extLst>
          </p:cNvPr>
          <p:cNvSpPr>
            <a:spLocks noGrp="1"/>
          </p:cNvSpPr>
          <p:nvPr>
            <p:ph type="title"/>
          </p:nvPr>
        </p:nvSpPr>
        <p:spPr/>
        <p:txBody>
          <a:bodyPr/>
          <a:lstStyle/>
          <a:p>
            <a:r>
              <a:rPr lang="en-US" dirty="0"/>
              <a:t>Users (Customers)</a:t>
            </a:r>
          </a:p>
        </p:txBody>
      </p:sp>
      <p:sp>
        <p:nvSpPr>
          <p:cNvPr id="3" name="Content Placeholder 2">
            <a:extLst>
              <a:ext uri="{FF2B5EF4-FFF2-40B4-BE49-F238E27FC236}">
                <a16:creationId xmlns:a16="http://schemas.microsoft.com/office/drawing/2014/main" id="{063EB9B3-D6C7-9FFC-7A11-9800C1E489E0}"/>
              </a:ext>
            </a:extLst>
          </p:cNvPr>
          <p:cNvSpPr>
            <a:spLocks noGrp="1"/>
          </p:cNvSpPr>
          <p:nvPr>
            <p:ph idx="1"/>
          </p:nvPr>
        </p:nvSpPr>
        <p:spPr/>
        <p:txBody>
          <a:bodyPr/>
          <a:lstStyle/>
          <a:p>
            <a:r>
              <a:rPr lang="en-US" dirty="0"/>
              <a:t>Who should use it?</a:t>
            </a:r>
          </a:p>
          <a:p>
            <a:r>
              <a:rPr lang="en-US" dirty="0"/>
              <a:t>Green Field</a:t>
            </a:r>
          </a:p>
          <a:p>
            <a:r>
              <a:rPr lang="en-US" dirty="0"/>
              <a:t>Azure Synapse</a:t>
            </a:r>
          </a:p>
          <a:p>
            <a:r>
              <a:rPr lang="en-US" dirty="0"/>
              <a:t>Azure –Lake /SQL</a:t>
            </a:r>
          </a:p>
          <a:p>
            <a:r>
              <a:rPr lang="en-US" dirty="0"/>
              <a:t>Power BI </a:t>
            </a:r>
          </a:p>
          <a:p>
            <a:r>
              <a:rPr lang="en-US" dirty="0"/>
              <a:t>On other cloud</a:t>
            </a:r>
          </a:p>
        </p:txBody>
      </p:sp>
    </p:spTree>
    <p:extLst>
      <p:ext uri="{BB962C8B-B14F-4D97-AF65-F5344CB8AC3E}">
        <p14:creationId xmlns:p14="http://schemas.microsoft.com/office/powerpoint/2010/main" val="3249652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4C226-30B1-345D-A762-934C3484EADD}"/>
              </a:ext>
            </a:extLst>
          </p:cNvPr>
          <p:cNvSpPr>
            <a:spLocks noGrp="1"/>
          </p:cNvSpPr>
          <p:nvPr>
            <p:ph type="title"/>
          </p:nvPr>
        </p:nvSpPr>
        <p:spPr/>
        <p:txBody>
          <a:bodyPr/>
          <a:lstStyle/>
          <a:p>
            <a:r>
              <a:rPr lang="en-US" dirty="0"/>
              <a:t>When to use?</a:t>
            </a:r>
          </a:p>
        </p:txBody>
      </p:sp>
      <p:sp>
        <p:nvSpPr>
          <p:cNvPr id="3" name="Content Placeholder 2">
            <a:extLst>
              <a:ext uri="{FF2B5EF4-FFF2-40B4-BE49-F238E27FC236}">
                <a16:creationId xmlns:a16="http://schemas.microsoft.com/office/drawing/2014/main" id="{D9936684-D20E-7F60-4CAA-726BD5A23155}"/>
              </a:ext>
            </a:extLst>
          </p:cNvPr>
          <p:cNvSpPr>
            <a:spLocks noGrp="1"/>
          </p:cNvSpPr>
          <p:nvPr>
            <p:ph idx="1"/>
          </p:nvPr>
        </p:nvSpPr>
        <p:spPr/>
        <p:txBody>
          <a:bodyPr/>
          <a:lstStyle/>
          <a:p>
            <a:r>
              <a:rPr lang="en-US" dirty="0"/>
              <a:t>Plan to start data analytics/Data Science project</a:t>
            </a:r>
          </a:p>
          <a:p>
            <a:r>
              <a:rPr lang="en-US" dirty="0"/>
              <a:t>Plan to upgrade/enhance data analytics/Data Science project</a:t>
            </a:r>
          </a:p>
          <a:p>
            <a:r>
              <a:rPr lang="en-US" dirty="0"/>
              <a:t>Plan to migrate from inhouse to cloud  or cloud to cloud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199917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04FFC-BA56-B2E0-3415-93E29474365C}"/>
              </a:ext>
            </a:extLst>
          </p:cNvPr>
          <p:cNvSpPr>
            <a:spLocks noGrp="1"/>
          </p:cNvSpPr>
          <p:nvPr>
            <p:ph type="title"/>
          </p:nvPr>
        </p:nvSpPr>
        <p:spPr/>
        <p:txBody>
          <a:bodyPr/>
          <a:lstStyle/>
          <a:p>
            <a:r>
              <a:rPr lang="en-US" dirty="0"/>
              <a:t>Useful links</a:t>
            </a:r>
          </a:p>
        </p:txBody>
      </p:sp>
      <p:sp>
        <p:nvSpPr>
          <p:cNvPr id="3" name="Content Placeholder 2">
            <a:extLst>
              <a:ext uri="{FF2B5EF4-FFF2-40B4-BE49-F238E27FC236}">
                <a16:creationId xmlns:a16="http://schemas.microsoft.com/office/drawing/2014/main" id="{F4DDB96D-3082-4955-6AD7-1CBC33AD4B4E}"/>
              </a:ext>
            </a:extLst>
          </p:cNvPr>
          <p:cNvSpPr>
            <a:spLocks noGrp="1"/>
          </p:cNvSpPr>
          <p:nvPr>
            <p:ph idx="1"/>
          </p:nvPr>
        </p:nvSpPr>
        <p:spPr/>
        <p:txBody>
          <a:bodyPr/>
          <a:lstStyle/>
          <a:p>
            <a:r>
              <a:rPr lang="en-US" dirty="0">
                <a:hlinkClick r:id="rId2"/>
              </a:rPr>
              <a:t>fabric terminology</a:t>
            </a:r>
            <a:endParaRPr lang="en-US" dirty="0"/>
          </a:p>
          <a:p>
            <a:r>
              <a:rPr lang="en-US" dirty="0">
                <a:hlinkClick r:id="rId3"/>
              </a:rPr>
              <a:t>license documentation</a:t>
            </a:r>
            <a:endParaRPr lang="en-US" dirty="0"/>
          </a:p>
          <a:p>
            <a:endParaRPr lang="en-US" dirty="0"/>
          </a:p>
        </p:txBody>
      </p:sp>
    </p:spTree>
    <p:extLst>
      <p:ext uri="{BB962C8B-B14F-4D97-AF65-F5344CB8AC3E}">
        <p14:creationId xmlns:p14="http://schemas.microsoft.com/office/powerpoint/2010/main" val="3120629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00C7CD-E2AD-4167-DF12-EC3D27B159C1}"/>
              </a:ext>
            </a:extLst>
          </p:cNvPr>
          <p:cNvSpPr>
            <a:spLocks noGrp="1"/>
          </p:cNvSpPr>
          <p:nvPr>
            <p:ph type="title"/>
          </p:nvPr>
        </p:nvSpPr>
        <p:spPr/>
        <p:txBody>
          <a:bodyPr/>
          <a:lstStyle/>
          <a:p>
            <a:r>
              <a:rPr lang="en-US"/>
              <a:t>LAKEHOUSE AND WAREHOUSE CREATION </a:t>
            </a:r>
            <a:endParaRPr lang="en-US" dirty="0"/>
          </a:p>
        </p:txBody>
      </p:sp>
      <p:sp>
        <p:nvSpPr>
          <p:cNvPr id="5" name="Text Placeholder 4">
            <a:extLst>
              <a:ext uri="{FF2B5EF4-FFF2-40B4-BE49-F238E27FC236}">
                <a16:creationId xmlns:a16="http://schemas.microsoft.com/office/drawing/2014/main" id="{68B59F98-23E2-EFE9-3258-BD130F7E383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5769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01ABB-11B2-72DA-51D6-97D0400FC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DCF8C-9D56-FEA0-7A6C-A5E0FB4D6124}"/>
              </a:ext>
            </a:extLst>
          </p:cNvPr>
          <p:cNvSpPr>
            <a:spLocks noGrp="1"/>
          </p:cNvSpPr>
          <p:nvPr>
            <p:ph type="title"/>
          </p:nvPr>
        </p:nvSpPr>
        <p:spPr/>
        <p:txBody>
          <a:bodyPr/>
          <a:lstStyle/>
          <a:p>
            <a:r>
              <a:rPr lang="en-US" dirty="0"/>
              <a:t>Steps</a:t>
            </a:r>
          </a:p>
        </p:txBody>
      </p:sp>
      <p:sp>
        <p:nvSpPr>
          <p:cNvPr id="3" name="Content Placeholder 2">
            <a:extLst>
              <a:ext uri="{FF2B5EF4-FFF2-40B4-BE49-F238E27FC236}">
                <a16:creationId xmlns:a16="http://schemas.microsoft.com/office/drawing/2014/main" id="{C2B902FF-D869-6C83-A0DF-578DF5654601}"/>
              </a:ext>
            </a:extLst>
          </p:cNvPr>
          <p:cNvSpPr>
            <a:spLocks noGrp="1"/>
          </p:cNvSpPr>
          <p:nvPr>
            <p:ph idx="1"/>
          </p:nvPr>
        </p:nvSpPr>
        <p:spPr/>
        <p:txBody>
          <a:bodyPr/>
          <a:lstStyle/>
          <a:p>
            <a:r>
              <a:rPr lang="en-US" dirty="0"/>
              <a:t>Click on the workspace</a:t>
            </a:r>
          </a:p>
          <a:p>
            <a:r>
              <a:rPr lang="en-US" dirty="0"/>
              <a:t>Generate the </a:t>
            </a:r>
            <a:r>
              <a:rPr lang="en-US" dirty="0" err="1"/>
              <a:t>lakehouse</a:t>
            </a:r>
            <a:r>
              <a:rPr lang="en-US" dirty="0"/>
              <a:t>  pass the proper name to create a new </a:t>
            </a:r>
            <a:r>
              <a:rPr lang="en-US" dirty="0" err="1"/>
              <a:t>lakehouse</a:t>
            </a:r>
            <a:endParaRPr lang="en-US" dirty="0"/>
          </a:p>
          <a:p>
            <a:r>
              <a:rPr lang="en-US" dirty="0"/>
              <a:t>Here we are selecting the compute and inside the same we are creating all services</a:t>
            </a:r>
          </a:p>
          <a:p>
            <a:r>
              <a:rPr lang="en-US" dirty="0"/>
              <a:t>This process will generate dataset, SQL endpoint along with the </a:t>
            </a:r>
            <a:r>
              <a:rPr lang="en-US" dirty="0" err="1"/>
              <a:t>lakehouse</a:t>
            </a:r>
            <a:endParaRPr lang="en-US" dirty="0"/>
          </a:p>
          <a:p>
            <a:r>
              <a:rPr lang="en-US" dirty="0"/>
              <a:t>Create the warehouse</a:t>
            </a:r>
          </a:p>
          <a:p>
            <a:r>
              <a:rPr lang="en-US" dirty="0"/>
              <a:t>Go back to workspace</a:t>
            </a:r>
          </a:p>
          <a:p>
            <a:endParaRPr lang="en-US" dirty="0"/>
          </a:p>
        </p:txBody>
      </p:sp>
    </p:spTree>
    <p:extLst>
      <p:ext uri="{BB962C8B-B14F-4D97-AF65-F5344CB8AC3E}">
        <p14:creationId xmlns:p14="http://schemas.microsoft.com/office/powerpoint/2010/main" val="396528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7DE6-6794-1CDE-24CD-A46ADA3A4754}"/>
              </a:ext>
            </a:extLst>
          </p:cNvPr>
          <p:cNvSpPr>
            <a:spLocks noGrp="1"/>
          </p:cNvSpPr>
          <p:nvPr>
            <p:ph type="title"/>
          </p:nvPr>
        </p:nvSpPr>
        <p:spPr/>
        <p:txBody>
          <a:bodyPr/>
          <a:lstStyle/>
          <a:p>
            <a:r>
              <a:rPr lang="en-US" dirty="0"/>
              <a:t>GLIMPSE</a:t>
            </a:r>
          </a:p>
        </p:txBody>
      </p:sp>
      <p:sp>
        <p:nvSpPr>
          <p:cNvPr id="3" name="Content Placeholder 2">
            <a:extLst>
              <a:ext uri="{FF2B5EF4-FFF2-40B4-BE49-F238E27FC236}">
                <a16:creationId xmlns:a16="http://schemas.microsoft.com/office/drawing/2014/main" id="{578694FF-2F2B-8301-97F7-1CB7DEC2833B}"/>
              </a:ext>
            </a:extLst>
          </p:cNvPr>
          <p:cNvSpPr>
            <a:spLocks noGrp="1"/>
          </p:cNvSpPr>
          <p:nvPr>
            <p:ph idx="1"/>
          </p:nvPr>
        </p:nvSpPr>
        <p:spPr/>
        <p:txBody>
          <a:bodyPr/>
          <a:lstStyle/>
          <a:p>
            <a:pPr algn="l">
              <a:buNone/>
            </a:pPr>
            <a:r>
              <a:rPr lang="en-US" b="0" i="0" dirty="0">
                <a:solidFill>
                  <a:srgbClr val="161616"/>
                </a:solidFill>
                <a:effectLst/>
                <a:latin typeface="Segoe UI" panose="020B0502040204020203" pitchFamily="34" charset="0"/>
              </a:rPr>
              <a:t>The foundation of Microsoft Fabric is a </a:t>
            </a:r>
            <a:r>
              <a:rPr lang="en-US" b="1"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which is built on top of the </a:t>
            </a:r>
            <a:r>
              <a:rPr lang="en-US" b="1"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scalable storage layer and uses Apache Spark and SQL compute engines for big data processing. A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is a unified platform that combines: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The flexible and scalable storage of a data </a:t>
            </a:r>
            <a:r>
              <a:rPr lang="en-US" b="0" i="1" dirty="0">
                <a:solidFill>
                  <a:srgbClr val="161616"/>
                </a:solidFill>
                <a:effectLst/>
                <a:latin typeface="Segoe UI" panose="020B0502040204020203" pitchFamily="34" charset="0"/>
              </a:rPr>
              <a:t>lake</a:t>
            </a:r>
            <a:endParaRPr lang="en-US" b="0" i="0" dirty="0">
              <a:solidFill>
                <a:srgbClr val="161616"/>
              </a:solidFill>
              <a:effectLst/>
              <a:latin typeface="Segoe UI" panose="020B0502040204020203" pitchFamily="34" charset="0"/>
            </a:endParaRP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The ability to query and analyze data of a data ware</a:t>
            </a:r>
            <a:r>
              <a:rPr lang="en-US" b="0" i="1" dirty="0">
                <a:solidFill>
                  <a:srgbClr val="161616"/>
                </a:solidFill>
                <a:effectLst/>
                <a:latin typeface="Segoe UI" panose="020B0502040204020203" pitchFamily="34" charset="0"/>
              </a:rPr>
              <a:t>house</a:t>
            </a:r>
            <a:endParaRPr lang="en-US"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1579599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9FF30-DD31-577D-50D6-671FE9F793DB}"/>
              </a:ext>
            </a:extLst>
          </p:cNvPr>
          <p:cNvSpPr>
            <a:spLocks noGrp="1"/>
          </p:cNvSpPr>
          <p:nvPr>
            <p:ph type="title"/>
          </p:nvPr>
        </p:nvSpPr>
        <p:spPr/>
        <p:txBody>
          <a:bodyPr/>
          <a:lstStyle/>
          <a:p>
            <a:r>
              <a:rPr lang="en-US" dirty="0"/>
              <a:t>Glimpse</a:t>
            </a:r>
          </a:p>
        </p:txBody>
      </p:sp>
      <p:sp>
        <p:nvSpPr>
          <p:cNvPr id="3" name="Content Placeholder 2">
            <a:extLst>
              <a:ext uri="{FF2B5EF4-FFF2-40B4-BE49-F238E27FC236}">
                <a16:creationId xmlns:a16="http://schemas.microsoft.com/office/drawing/2014/main" id="{16E6C9E3-17C1-B0C3-A992-A4516C1473C6}"/>
              </a:ext>
            </a:extLst>
          </p:cNvPr>
          <p:cNvSpPr>
            <a:spLocks noGrp="1"/>
          </p:cNvSpPr>
          <p:nvPr>
            <p:ph idx="1"/>
          </p:nvPr>
        </p:nvSpPr>
        <p:spPr>
          <a:xfrm>
            <a:off x="838200" y="1825625"/>
            <a:ext cx="10515600" cy="1950508"/>
          </a:xfrm>
        </p:spPr>
        <p:txBody>
          <a:bodyPr>
            <a:normAutofit fontScale="85000" lnSpcReduction="20000"/>
          </a:bodyPr>
          <a:lstStyle/>
          <a:p>
            <a:r>
              <a:rPr lang="en-US" b="0" i="0" dirty="0">
                <a:solidFill>
                  <a:srgbClr val="161616"/>
                </a:solidFill>
                <a:effectLst/>
                <a:latin typeface="Segoe UI" panose="020B0502040204020203" pitchFamily="34" charset="0"/>
              </a:rPr>
              <a:t>A </a:t>
            </a:r>
            <a:r>
              <a:rPr lang="en-US" b="1"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presents as a database and is built on top of a data lake using Delta format tables. </a:t>
            </a: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combine the SQL-based analytical capabilities of a relational data warehouse and the flexibility and scalability of a data lake. </a:t>
            </a: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store all data formats and can be used with various analytics tools and programming languages. As cloud-based solutions, </a:t>
            </a: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can scale automatically and provide high availability and disaster recovery.</a:t>
            </a:r>
            <a:endParaRPr lang="en-US" dirty="0"/>
          </a:p>
        </p:txBody>
      </p:sp>
      <p:pic>
        <p:nvPicPr>
          <p:cNvPr id="5" name="Picture 4">
            <a:extLst>
              <a:ext uri="{FF2B5EF4-FFF2-40B4-BE49-F238E27FC236}">
                <a16:creationId xmlns:a16="http://schemas.microsoft.com/office/drawing/2014/main" id="{418797C6-E6B2-CE64-A9B0-0F45AAA76CE4}"/>
              </a:ext>
            </a:extLst>
          </p:cNvPr>
          <p:cNvPicPr>
            <a:picLocks noChangeAspect="1"/>
          </p:cNvPicPr>
          <p:nvPr/>
        </p:nvPicPr>
        <p:blipFill>
          <a:blip r:embed="rId2"/>
          <a:stretch>
            <a:fillRect/>
          </a:stretch>
        </p:blipFill>
        <p:spPr>
          <a:xfrm>
            <a:off x="3576799" y="3795382"/>
            <a:ext cx="6566267" cy="2697493"/>
          </a:xfrm>
          <a:prstGeom prst="rect">
            <a:avLst/>
          </a:prstGeom>
        </p:spPr>
      </p:pic>
    </p:spTree>
    <p:extLst>
      <p:ext uri="{BB962C8B-B14F-4D97-AF65-F5344CB8AC3E}">
        <p14:creationId xmlns:p14="http://schemas.microsoft.com/office/powerpoint/2010/main" val="1535460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C3059-FA20-A89D-A42A-CA876E022920}"/>
              </a:ext>
            </a:extLst>
          </p:cNvPr>
          <p:cNvSpPr>
            <a:spLocks noGrp="1"/>
          </p:cNvSpPr>
          <p:nvPr>
            <p:ph type="title"/>
          </p:nvPr>
        </p:nvSpPr>
        <p:spPr/>
        <p:txBody>
          <a:bodyPr/>
          <a:lstStyle/>
          <a:p>
            <a:r>
              <a:rPr lang="en-US" dirty="0"/>
              <a:t>Benefits </a:t>
            </a:r>
          </a:p>
        </p:txBody>
      </p:sp>
      <p:sp>
        <p:nvSpPr>
          <p:cNvPr id="3" name="Content Placeholder 2">
            <a:extLst>
              <a:ext uri="{FF2B5EF4-FFF2-40B4-BE49-F238E27FC236}">
                <a16:creationId xmlns:a16="http://schemas.microsoft.com/office/drawing/2014/main" id="{EC1FE3F4-251D-22E0-0A83-1EBEF5607077}"/>
              </a:ext>
            </a:extLst>
          </p:cNvPr>
          <p:cNvSpPr>
            <a:spLocks noGrp="1"/>
          </p:cNvSpPr>
          <p:nvPr>
            <p:ph idx="1"/>
          </p:nvPr>
        </p:nvSpPr>
        <p:spPr/>
        <p:txBody>
          <a:bodyPr>
            <a:normAutofit fontScale="92500" lnSpcReduction="10000"/>
          </a:bodyPr>
          <a:lstStyle/>
          <a:p>
            <a:pPr algn="l">
              <a:spcBef>
                <a:spcPts val="1200"/>
              </a:spcBef>
              <a:spcAft>
                <a:spcPts val="1200"/>
              </a:spcAft>
              <a:buFont typeface="Arial" panose="020B0604020202020204" pitchFamily="34" charset="0"/>
              <a:buChar char="•"/>
            </a:pP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use Spark and SQL engines to process large-scale data and support machine learning or predictive modeling analytics.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Lakehouse data is organized in a </a:t>
            </a:r>
            <a:r>
              <a:rPr lang="en-US" b="0" i="1" dirty="0">
                <a:solidFill>
                  <a:srgbClr val="161616"/>
                </a:solidFill>
                <a:effectLst/>
                <a:latin typeface="Segoe UI" panose="020B0502040204020203" pitchFamily="34" charset="0"/>
              </a:rPr>
              <a:t>schema-on-read format</a:t>
            </a:r>
            <a:r>
              <a:rPr lang="en-US" b="0" i="0" dirty="0">
                <a:solidFill>
                  <a:srgbClr val="161616"/>
                </a:solidFill>
                <a:effectLst/>
                <a:latin typeface="Segoe UI" panose="020B0502040204020203" pitchFamily="34" charset="0"/>
              </a:rPr>
              <a:t>, which means you define the schema as needed rather than having a predefined schema.</a:t>
            </a:r>
          </a:p>
          <a:p>
            <a:pPr algn="l">
              <a:spcBef>
                <a:spcPts val="1200"/>
              </a:spcBef>
              <a:spcAft>
                <a:spcPts val="1200"/>
              </a:spcAft>
              <a:buFont typeface="Arial" panose="020B0604020202020204" pitchFamily="34" charset="0"/>
              <a:buChar char="•"/>
            </a:pP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support ACID (Atomicity, Consistency, Isolation, Durability) transactions through Delta Lake formatted tables for data consistency and integrity.</a:t>
            </a:r>
          </a:p>
          <a:p>
            <a:pPr algn="l">
              <a:spcBef>
                <a:spcPts val="1200"/>
              </a:spcBef>
              <a:spcAft>
                <a:spcPts val="1200"/>
              </a:spcAft>
              <a:buFont typeface="Arial" panose="020B0604020202020204" pitchFamily="34" charset="0"/>
              <a:buChar char="•"/>
            </a:pPr>
            <a:r>
              <a:rPr lang="en-US" b="0" i="0" dirty="0" err="1">
                <a:solidFill>
                  <a:srgbClr val="161616"/>
                </a:solidFill>
                <a:effectLst/>
                <a:latin typeface="Segoe UI" panose="020B0502040204020203" pitchFamily="34" charset="0"/>
              </a:rPr>
              <a:t>Lakehouses</a:t>
            </a:r>
            <a:r>
              <a:rPr lang="en-US" b="0" i="0" dirty="0">
                <a:solidFill>
                  <a:srgbClr val="161616"/>
                </a:solidFill>
                <a:effectLst/>
                <a:latin typeface="Segoe UI" panose="020B0502040204020203" pitchFamily="34" charset="0"/>
              </a:rPr>
              <a:t> are a single location for data engineers, data scientists, and data analysts to access and use data.</a:t>
            </a:r>
          </a:p>
          <a:p>
            <a:endParaRPr lang="en-US" dirty="0"/>
          </a:p>
        </p:txBody>
      </p:sp>
    </p:spTree>
    <p:extLst>
      <p:ext uri="{BB962C8B-B14F-4D97-AF65-F5344CB8AC3E}">
        <p14:creationId xmlns:p14="http://schemas.microsoft.com/office/powerpoint/2010/main" val="3531637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7E902-4F5A-8F59-3FF0-39DEEA1B20E1}"/>
              </a:ext>
            </a:extLst>
          </p:cNvPr>
          <p:cNvSpPr>
            <a:spLocks noGrp="1"/>
          </p:cNvSpPr>
          <p:nvPr>
            <p:ph type="title"/>
          </p:nvPr>
        </p:nvSpPr>
        <p:spPr/>
        <p:txBody>
          <a:bodyPr/>
          <a:lstStyle/>
          <a:p>
            <a:r>
              <a:rPr lang="en-US" dirty="0"/>
              <a:t>Use</a:t>
            </a:r>
          </a:p>
        </p:txBody>
      </p:sp>
      <p:sp>
        <p:nvSpPr>
          <p:cNvPr id="3" name="Content Placeholder 2">
            <a:extLst>
              <a:ext uri="{FF2B5EF4-FFF2-40B4-BE49-F238E27FC236}">
                <a16:creationId xmlns:a16="http://schemas.microsoft.com/office/drawing/2014/main" id="{C7C94653-1BFA-565B-F18C-66E19BFE08FE}"/>
              </a:ext>
            </a:extLst>
          </p:cNvPr>
          <p:cNvSpPr>
            <a:spLocks noGrp="1"/>
          </p:cNvSpPr>
          <p:nvPr>
            <p:ph idx="1"/>
          </p:nvPr>
        </p:nvSpPr>
        <p:spPr/>
        <p:txBody>
          <a:bodyPr/>
          <a:lstStyle/>
          <a:p>
            <a:pPr algn="l">
              <a:buNone/>
            </a:pPr>
            <a:r>
              <a:rPr lang="en-US" dirty="0"/>
              <a:t>Y</a:t>
            </a:r>
            <a:r>
              <a:rPr lang="en-US" b="0" i="0" dirty="0">
                <a:solidFill>
                  <a:srgbClr val="161616"/>
                </a:solidFill>
                <a:effectLst/>
                <a:latin typeface="Segoe UI" panose="020B0502040204020203" pitchFamily="34" charset="0"/>
              </a:rPr>
              <a:t>ou can use your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for many reasons, including:</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Analyze using SQL.</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Train machine learning models.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Perform analytics on real-time data.</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Develop reports in Power BI.</a:t>
            </a:r>
          </a:p>
          <a:p>
            <a:pPr marL="0" indent="0">
              <a:buNone/>
            </a:pPr>
            <a:endParaRPr lang="en-US" dirty="0"/>
          </a:p>
        </p:txBody>
      </p:sp>
    </p:spTree>
    <p:extLst>
      <p:ext uri="{BB962C8B-B14F-4D97-AF65-F5344CB8AC3E}">
        <p14:creationId xmlns:p14="http://schemas.microsoft.com/office/powerpoint/2010/main" val="2081507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8569D-033E-4A00-E9F7-79F3C0B175F7}"/>
              </a:ext>
            </a:extLst>
          </p:cNvPr>
          <p:cNvSpPr>
            <a:spLocks noGrp="1"/>
          </p:cNvSpPr>
          <p:nvPr>
            <p:ph type="title"/>
          </p:nvPr>
        </p:nvSpPr>
        <p:spPr/>
        <p:txBody>
          <a:bodyPr/>
          <a:lstStyle/>
          <a:p>
            <a:r>
              <a:rPr lang="en-US" dirty="0"/>
              <a:t>Create and explore </a:t>
            </a:r>
            <a:r>
              <a:rPr lang="en-US" dirty="0" err="1"/>
              <a:t>lakehouse</a:t>
            </a:r>
            <a:endParaRPr lang="en-US" dirty="0"/>
          </a:p>
        </p:txBody>
      </p:sp>
      <p:sp>
        <p:nvSpPr>
          <p:cNvPr id="3" name="Content Placeholder 2">
            <a:extLst>
              <a:ext uri="{FF2B5EF4-FFF2-40B4-BE49-F238E27FC236}">
                <a16:creationId xmlns:a16="http://schemas.microsoft.com/office/drawing/2014/main" id="{9DEFC790-A095-DEEC-5E64-A651011ABE91}"/>
              </a:ext>
            </a:extLst>
          </p:cNvPr>
          <p:cNvSpPr>
            <a:spLocks noGrp="1"/>
          </p:cNvSpPr>
          <p:nvPr>
            <p:ph idx="1"/>
          </p:nvPr>
        </p:nvSpPr>
        <p:spPr/>
        <p:txBody>
          <a:bodyPr/>
          <a:lstStyle/>
          <a:p>
            <a:pPr algn="l">
              <a:buNone/>
            </a:pPr>
            <a:r>
              <a:rPr lang="en-US" b="0" i="0" dirty="0">
                <a:solidFill>
                  <a:srgbClr val="161616"/>
                </a:solidFill>
                <a:effectLst/>
                <a:latin typeface="Segoe UI" panose="020B0502040204020203" pitchFamily="34" charset="0"/>
              </a:rPr>
              <a:t>When you create a new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you have three different data items automatically created in your workspace.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The </a:t>
            </a:r>
            <a:r>
              <a:rPr lang="en-US" b="1"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contains shortcuts, folders, files, and tables.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The </a:t>
            </a:r>
            <a:r>
              <a:rPr lang="en-US" b="1" i="0" dirty="0">
                <a:solidFill>
                  <a:srgbClr val="161616"/>
                </a:solidFill>
                <a:effectLst/>
                <a:latin typeface="Segoe UI" panose="020B0502040204020203" pitchFamily="34" charset="0"/>
              </a:rPr>
              <a:t>Semantic model (default)</a:t>
            </a:r>
            <a:r>
              <a:rPr lang="en-US" b="0" i="0" dirty="0">
                <a:solidFill>
                  <a:srgbClr val="161616"/>
                </a:solidFill>
                <a:effectLst/>
                <a:latin typeface="Segoe UI" panose="020B0502040204020203" pitchFamily="34" charset="0"/>
              </a:rPr>
              <a:t> provides an easy data source for Power BI report developers.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The </a:t>
            </a:r>
            <a:r>
              <a:rPr lang="en-US" b="1" i="0" dirty="0">
                <a:solidFill>
                  <a:srgbClr val="161616"/>
                </a:solidFill>
                <a:effectLst/>
                <a:latin typeface="Segoe UI" panose="020B0502040204020203" pitchFamily="34" charset="0"/>
              </a:rPr>
              <a:t>SQL analytics endpoint</a:t>
            </a:r>
            <a:r>
              <a:rPr lang="en-US" b="0" i="0" dirty="0">
                <a:solidFill>
                  <a:srgbClr val="161616"/>
                </a:solidFill>
                <a:effectLst/>
                <a:latin typeface="Segoe UI" panose="020B0502040204020203" pitchFamily="34" charset="0"/>
              </a:rPr>
              <a:t> allows read-only access to query data with SQL.</a:t>
            </a:r>
          </a:p>
          <a:p>
            <a:endParaRPr lang="en-US" dirty="0"/>
          </a:p>
        </p:txBody>
      </p:sp>
    </p:spTree>
    <p:extLst>
      <p:ext uri="{BB962C8B-B14F-4D97-AF65-F5344CB8AC3E}">
        <p14:creationId xmlns:p14="http://schemas.microsoft.com/office/powerpoint/2010/main" val="3754399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F7ABAC-F468-9845-3D1F-A7BC0EBC20C1}"/>
              </a:ext>
            </a:extLst>
          </p:cNvPr>
          <p:cNvPicPr>
            <a:picLocks noChangeAspect="1"/>
          </p:cNvPicPr>
          <p:nvPr/>
        </p:nvPicPr>
        <p:blipFill>
          <a:blip r:embed="rId2"/>
          <a:stretch>
            <a:fillRect/>
          </a:stretch>
        </p:blipFill>
        <p:spPr>
          <a:xfrm>
            <a:off x="320842" y="0"/>
            <a:ext cx="11550316" cy="6858000"/>
          </a:xfrm>
          <a:prstGeom prst="rect">
            <a:avLst/>
          </a:prstGeom>
        </p:spPr>
      </p:pic>
    </p:spTree>
    <p:extLst>
      <p:ext uri="{BB962C8B-B14F-4D97-AF65-F5344CB8AC3E}">
        <p14:creationId xmlns:p14="http://schemas.microsoft.com/office/powerpoint/2010/main" val="507949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36D977-F342-AEF7-8315-0AE624E44C2D}"/>
              </a:ext>
            </a:extLst>
          </p:cNvPr>
          <p:cNvPicPr>
            <a:picLocks noChangeAspect="1"/>
          </p:cNvPicPr>
          <p:nvPr/>
        </p:nvPicPr>
        <p:blipFill>
          <a:blip r:embed="rId2"/>
          <a:stretch>
            <a:fillRect/>
          </a:stretch>
        </p:blipFill>
        <p:spPr>
          <a:xfrm>
            <a:off x="320842" y="0"/>
            <a:ext cx="11550316" cy="6858000"/>
          </a:xfrm>
          <a:prstGeom prst="rect">
            <a:avLst/>
          </a:prstGeom>
        </p:spPr>
      </p:pic>
    </p:spTree>
    <p:extLst>
      <p:ext uri="{BB962C8B-B14F-4D97-AF65-F5344CB8AC3E}">
        <p14:creationId xmlns:p14="http://schemas.microsoft.com/office/powerpoint/2010/main" val="2103397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5E41B9-B22E-E994-0BF8-AA502706BE66}"/>
              </a:ext>
            </a:extLst>
          </p:cNvPr>
          <p:cNvPicPr>
            <a:picLocks noChangeAspect="1"/>
          </p:cNvPicPr>
          <p:nvPr/>
        </p:nvPicPr>
        <p:blipFill>
          <a:blip r:embed="rId2"/>
          <a:stretch>
            <a:fillRect/>
          </a:stretch>
        </p:blipFill>
        <p:spPr>
          <a:xfrm>
            <a:off x="320842" y="0"/>
            <a:ext cx="11550316"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3B4E244-811A-5260-8EF1-390881826D1B}"/>
                  </a:ext>
                </a:extLst>
              </p14:cNvPr>
              <p14:cNvContentPartPr/>
              <p14:nvPr/>
            </p14:nvContentPartPr>
            <p14:xfrm>
              <a:off x="1247787" y="1295360"/>
              <a:ext cx="292320" cy="107640"/>
            </p14:xfrm>
          </p:contentPart>
        </mc:Choice>
        <mc:Fallback xmlns="">
          <p:pic>
            <p:nvPicPr>
              <p:cNvPr id="4" name="Ink 3">
                <a:extLst>
                  <a:ext uri="{FF2B5EF4-FFF2-40B4-BE49-F238E27FC236}">
                    <a16:creationId xmlns:a16="http://schemas.microsoft.com/office/drawing/2014/main" id="{83B4E244-811A-5260-8EF1-390881826D1B}"/>
                  </a:ext>
                </a:extLst>
              </p:cNvPr>
              <p:cNvPicPr/>
              <p:nvPr/>
            </p:nvPicPr>
            <p:blipFill>
              <a:blip r:embed="rId4"/>
              <a:stretch>
                <a:fillRect/>
              </a:stretch>
            </p:blipFill>
            <p:spPr>
              <a:xfrm>
                <a:off x="1212147" y="1223360"/>
                <a:ext cx="363960" cy="251280"/>
              </a:xfrm>
              <a:prstGeom prst="rect">
                <a:avLst/>
              </a:prstGeom>
            </p:spPr>
          </p:pic>
        </mc:Fallback>
      </mc:AlternateContent>
    </p:spTree>
    <p:extLst>
      <p:ext uri="{BB962C8B-B14F-4D97-AF65-F5344CB8AC3E}">
        <p14:creationId xmlns:p14="http://schemas.microsoft.com/office/powerpoint/2010/main" val="740593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08DC15-E5E2-BD10-342C-49495609E1AB}"/>
              </a:ext>
            </a:extLst>
          </p:cNvPr>
          <p:cNvPicPr>
            <a:picLocks noChangeAspect="1"/>
          </p:cNvPicPr>
          <p:nvPr/>
        </p:nvPicPr>
        <p:blipFill>
          <a:blip r:embed="rId2"/>
          <a:stretch>
            <a:fillRect/>
          </a:stretch>
        </p:blipFill>
        <p:spPr>
          <a:xfrm>
            <a:off x="320842" y="0"/>
            <a:ext cx="11550316" cy="6858000"/>
          </a:xfrm>
          <a:prstGeom prst="rect">
            <a:avLst/>
          </a:prstGeom>
        </p:spPr>
      </p:pic>
    </p:spTree>
    <p:extLst>
      <p:ext uri="{BB962C8B-B14F-4D97-AF65-F5344CB8AC3E}">
        <p14:creationId xmlns:p14="http://schemas.microsoft.com/office/powerpoint/2010/main" val="3591365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8132F-6425-565F-ACDA-1D410F0AC764}"/>
              </a:ext>
            </a:extLst>
          </p:cNvPr>
          <p:cNvSpPr>
            <a:spLocks noGrp="1"/>
          </p:cNvSpPr>
          <p:nvPr>
            <p:ph type="title"/>
          </p:nvPr>
        </p:nvSpPr>
        <p:spPr/>
        <p:txBody>
          <a:bodyPr/>
          <a:lstStyle/>
          <a:p>
            <a:r>
              <a:rPr lang="en-US" dirty="0"/>
              <a:t>Ingest data</a:t>
            </a:r>
          </a:p>
        </p:txBody>
      </p:sp>
      <p:sp>
        <p:nvSpPr>
          <p:cNvPr id="3" name="Content Placeholder 2">
            <a:extLst>
              <a:ext uri="{FF2B5EF4-FFF2-40B4-BE49-F238E27FC236}">
                <a16:creationId xmlns:a16="http://schemas.microsoft.com/office/drawing/2014/main" id="{F7F99E7E-FABE-C544-1F34-10D8B5B9700C}"/>
              </a:ext>
            </a:extLst>
          </p:cNvPr>
          <p:cNvSpPr>
            <a:spLocks noGrp="1"/>
          </p:cNvSpPr>
          <p:nvPr>
            <p:ph idx="1"/>
          </p:nvPr>
        </p:nvSpPr>
        <p:spPr/>
        <p:txBody>
          <a:bodyPr>
            <a:normAutofit fontScale="92500" lnSpcReduction="10000"/>
          </a:bodyPr>
          <a:lstStyle/>
          <a:p>
            <a:pPr marL="0" indent="0">
              <a:buNone/>
            </a:pPr>
            <a:r>
              <a:rPr lang="en-US" b="0" i="0" dirty="0">
                <a:solidFill>
                  <a:srgbClr val="161616"/>
                </a:solidFill>
                <a:effectLst/>
                <a:latin typeface="Segoe UI" panose="020B0502040204020203" pitchFamily="34" charset="0"/>
              </a:rPr>
              <a:t>Ingesting data into your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is the first step in your ETL process. Use any of the following methods to bring data into your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Upload</a:t>
            </a:r>
            <a:r>
              <a:rPr lang="en-US" b="0" i="0" dirty="0">
                <a:solidFill>
                  <a:srgbClr val="161616"/>
                </a:solidFill>
                <a:effectLst/>
                <a:latin typeface="Segoe UI" panose="020B0502040204020203" pitchFamily="34" charset="0"/>
              </a:rPr>
              <a:t>: Upload local files.</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Dataflows Gen2</a:t>
            </a:r>
            <a:r>
              <a:rPr lang="en-US" b="0" i="0" dirty="0">
                <a:solidFill>
                  <a:srgbClr val="161616"/>
                </a:solidFill>
                <a:effectLst/>
                <a:latin typeface="Segoe UI" panose="020B0502040204020203" pitchFamily="34" charset="0"/>
              </a:rPr>
              <a:t>: Import and transform data using Power Query.</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Notebooks</a:t>
            </a:r>
            <a:r>
              <a:rPr lang="en-US" b="0" i="0" dirty="0">
                <a:solidFill>
                  <a:srgbClr val="161616"/>
                </a:solidFill>
                <a:effectLst/>
                <a:latin typeface="Segoe UI" panose="020B0502040204020203" pitchFamily="34" charset="0"/>
              </a:rPr>
              <a:t>: Use Apache Spark to ingest, transform, and load data.</a:t>
            </a:r>
          </a:p>
          <a:p>
            <a:pPr algn="l">
              <a:spcBef>
                <a:spcPts val="1200"/>
              </a:spcBef>
              <a:spcAft>
                <a:spcPts val="1200"/>
              </a:spcAft>
              <a:buFont typeface="Arial" panose="020B0604020202020204" pitchFamily="34" charset="0"/>
              <a:buChar char="•"/>
            </a:pPr>
            <a:r>
              <a:rPr lang="en-US" b="1" i="0" dirty="0">
                <a:solidFill>
                  <a:srgbClr val="161616"/>
                </a:solidFill>
                <a:effectLst/>
                <a:latin typeface="Segoe UI" panose="020B0502040204020203" pitchFamily="34" charset="0"/>
              </a:rPr>
              <a:t>Data Factory pipelines</a:t>
            </a:r>
            <a:r>
              <a:rPr lang="en-US" b="0" i="0" dirty="0">
                <a:solidFill>
                  <a:srgbClr val="161616"/>
                </a:solidFill>
                <a:effectLst/>
                <a:latin typeface="Segoe UI" panose="020B0502040204020203" pitchFamily="34" charset="0"/>
              </a:rPr>
              <a:t>: Use the Copy data activity.</a:t>
            </a:r>
          </a:p>
          <a:p>
            <a:pPr marL="0" indent="0">
              <a:buNone/>
            </a:pPr>
            <a:r>
              <a:rPr lang="en-US" b="0" i="0" dirty="0">
                <a:solidFill>
                  <a:srgbClr val="161616"/>
                </a:solidFill>
                <a:effectLst/>
                <a:latin typeface="Segoe UI" panose="020B0502040204020203" pitchFamily="34" charset="0"/>
              </a:rPr>
              <a:t>This data can then be loaded directly into files or tables. Consider your data loading pattern when ingesting data to determine if you should load all raw data as files before processing or use staging tables.</a:t>
            </a:r>
            <a:endParaRPr lang="en-US" dirty="0"/>
          </a:p>
        </p:txBody>
      </p:sp>
    </p:spTree>
    <p:extLst>
      <p:ext uri="{BB962C8B-B14F-4D97-AF65-F5344CB8AC3E}">
        <p14:creationId xmlns:p14="http://schemas.microsoft.com/office/powerpoint/2010/main" val="1070145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7741D-5DED-3451-E267-BFA46887B6FA}"/>
              </a:ext>
            </a:extLst>
          </p:cNvPr>
          <p:cNvSpPr>
            <a:spLocks noGrp="1"/>
          </p:cNvSpPr>
          <p:nvPr>
            <p:ph type="title"/>
          </p:nvPr>
        </p:nvSpPr>
        <p:spPr/>
        <p:txBody>
          <a:bodyPr/>
          <a:lstStyle/>
          <a:p>
            <a:r>
              <a:rPr lang="en-US" dirty="0"/>
              <a:t>Ingest data</a:t>
            </a:r>
          </a:p>
        </p:txBody>
      </p:sp>
      <p:sp>
        <p:nvSpPr>
          <p:cNvPr id="3" name="Content Placeholder 2">
            <a:extLst>
              <a:ext uri="{FF2B5EF4-FFF2-40B4-BE49-F238E27FC236}">
                <a16:creationId xmlns:a16="http://schemas.microsoft.com/office/drawing/2014/main" id="{66795536-601C-5FF6-F83D-93F7C90D237C}"/>
              </a:ext>
            </a:extLst>
          </p:cNvPr>
          <p:cNvSpPr>
            <a:spLocks noGrp="1"/>
          </p:cNvSpPr>
          <p:nvPr>
            <p:ph idx="1"/>
          </p:nvPr>
        </p:nvSpPr>
        <p:spPr/>
        <p:txBody>
          <a:bodyPr/>
          <a:lstStyle/>
          <a:p>
            <a:r>
              <a:rPr lang="en-US" b="1" i="0" dirty="0">
                <a:solidFill>
                  <a:srgbClr val="161616"/>
                </a:solidFill>
                <a:effectLst/>
                <a:latin typeface="Segoe UI" panose="020B0502040204020203" pitchFamily="34" charset="0"/>
              </a:rPr>
              <a:t>Spark job definitions</a:t>
            </a:r>
            <a:r>
              <a:rPr lang="en-US" b="0" i="0" dirty="0">
                <a:solidFill>
                  <a:srgbClr val="161616"/>
                </a:solidFill>
                <a:effectLst/>
                <a:latin typeface="Segoe UI" panose="020B0502040204020203" pitchFamily="34" charset="0"/>
              </a:rPr>
              <a:t> can also be used to submit batch/streaming jobs to Spark clusters. By uploading the binary files from the compilation output of different languages (for example, .jar from Java), you can apply different transformation logic to the data hosted on a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Besides the binary file, you can further customize the behavior of the job by uploading more libraries and command line arguments.</a:t>
            </a:r>
            <a:endParaRPr lang="en-US" dirty="0"/>
          </a:p>
        </p:txBody>
      </p:sp>
    </p:spTree>
    <p:extLst>
      <p:ext uri="{BB962C8B-B14F-4D97-AF65-F5344CB8AC3E}">
        <p14:creationId xmlns:p14="http://schemas.microsoft.com/office/powerpoint/2010/main" val="1758722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37DB7-E7A5-387F-A74E-7D876359223D}"/>
              </a:ext>
            </a:extLst>
          </p:cNvPr>
          <p:cNvSpPr>
            <a:spLocks noGrp="1"/>
          </p:cNvSpPr>
          <p:nvPr>
            <p:ph type="title"/>
          </p:nvPr>
        </p:nvSpPr>
        <p:spPr/>
        <p:txBody>
          <a:bodyPr/>
          <a:lstStyle/>
          <a:p>
            <a:r>
              <a:rPr lang="en-US" dirty="0"/>
              <a:t>Transform and load data</a:t>
            </a:r>
          </a:p>
        </p:txBody>
      </p:sp>
      <p:sp>
        <p:nvSpPr>
          <p:cNvPr id="3" name="Content Placeholder 2">
            <a:extLst>
              <a:ext uri="{FF2B5EF4-FFF2-40B4-BE49-F238E27FC236}">
                <a16:creationId xmlns:a16="http://schemas.microsoft.com/office/drawing/2014/main" id="{556997D7-79A1-B209-397C-4818B8C25920}"/>
              </a:ext>
            </a:extLst>
          </p:cNvPr>
          <p:cNvSpPr>
            <a:spLocks noGrp="1"/>
          </p:cNvSpPr>
          <p:nvPr>
            <p:ph idx="1"/>
          </p:nvPr>
        </p:nvSpPr>
        <p:spPr/>
        <p:txBody>
          <a:bodyPr>
            <a:normAutofit fontScale="92500" lnSpcReduction="20000"/>
          </a:bodyPr>
          <a:lstStyle/>
          <a:p>
            <a:pPr algn="l">
              <a:buNone/>
            </a:pPr>
            <a:r>
              <a:rPr lang="en-US" b="0" i="0" dirty="0">
                <a:solidFill>
                  <a:srgbClr val="161616"/>
                </a:solidFill>
                <a:effectLst/>
                <a:latin typeface="Segoe UI" panose="020B0502040204020203" pitchFamily="34" charset="0"/>
              </a:rPr>
              <a:t>Most data requires transformations before loading into tables. You might ingest raw data directly into a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and then further transform and load into tables. Regardless of your ETL design, you can transform and load data simply using the same tools to ingest data. Transformed data can then be loaded as a file or a Delta table.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Notebooks are favored by data engineers familiar with different programming languages including </a:t>
            </a:r>
            <a:r>
              <a:rPr lang="en-US" b="0" i="0" dirty="0" err="1">
                <a:solidFill>
                  <a:srgbClr val="161616"/>
                </a:solidFill>
                <a:effectLst/>
                <a:latin typeface="Segoe UI" panose="020B0502040204020203" pitchFamily="34" charset="0"/>
              </a:rPr>
              <a:t>PySpark</a:t>
            </a:r>
            <a:r>
              <a:rPr lang="en-US" b="0" i="0" dirty="0">
                <a:solidFill>
                  <a:srgbClr val="161616"/>
                </a:solidFill>
                <a:effectLst/>
                <a:latin typeface="Segoe UI" panose="020B0502040204020203" pitchFamily="34" charset="0"/>
              </a:rPr>
              <a:t>, SQL, and Scala.</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Dataflows Gen2 are excellent for developers familiar with Power BI or Excel since they use the </a:t>
            </a:r>
            <a:r>
              <a:rPr lang="en-US" b="0" i="0" dirty="0" err="1">
                <a:solidFill>
                  <a:srgbClr val="161616"/>
                </a:solidFill>
                <a:effectLst/>
                <a:latin typeface="Segoe UI" panose="020B0502040204020203" pitchFamily="34" charset="0"/>
              </a:rPr>
              <a:t>PowerQuery</a:t>
            </a:r>
            <a:r>
              <a:rPr lang="en-US" b="0" i="0" dirty="0">
                <a:solidFill>
                  <a:srgbClr val="161616"/>
                </a:solidFill>
                <a:effectLst/>
                <a:latin typeface="Segoe UI" panose="020B0502040204020203" pitchFamily="34" charset="0"/>
              </a:rPr>
              <a:t> interface.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Pipelines provide a visual interface to perform and orchestrate ETL processes. Pipelines can be as simple or as complex as you need.</a:t>
            </a:r>
          </a:p>
          <a:p>
            <a:endParaRPr lang="en-US" dirty="0"/>
          </a:p>
        </p:txBody>
      </p:sp>
    </p:spTree>
    <p:extLst>
      <p:ext uri="{BB962C8B-B14F-4D97-AF65-F5344CB8AC3E}">
        <p14:creationId xmlns:p14="http://schemas.microsoft.com/office/powerpoint/2010/main" val="2853014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79A31-C286-A255-2649-433B02DCF91B}"/>
              </a:ext>
            </a:extLst>
          </p:cNvPr>
          <p:cNvSpPr>
            <a:spLocks noGrp="1"/>
          </p:cNvSpPr>
          <p:nvPr>
            <p:ph type="title"/>
          </p:nvPr>
        </p:nvSpPr>
        <p:spPr/>
        <p:txBody>
          <a:bodyPr/>
          <a:lstStyle/>
          <a:p>
            <a:r>
              <a:rPr lang="en-US" dirty="0"/>
              <a:t>Analyze and Visualize</a:t>
            </a:r>
          </a:p>
        </p:txBody>
      </p:sp>
      <p:sp>
        <p:nvSpPr>
          <p:cNvPr id="3" name="Content Placeholder 2">
            <a:extLst>
              <a:ext uri="{FF2B5EF4-FFF2-40B4-BE49-F238E27FC236}">
                <a16:creationId xmlns:a16="http://schemas.microsoft.com/office/drawing/2014/main" id="{372523F8-CFE9-09C5-5557-9BE403FE5E18}"/>
              </a:ext>
            </a:extLst>
          </p:cNvPr>
          <p:cNvSpPr>
            <a:spLocks noGrp="1"/>
          </p:cNvSpPr>
          <p:nvPr>
            <p:ph idx="1"/>
          </p:nvPr>
        </p:nvSpPr>
        <p:spPr/>
        <p:txBody>
          <a:bodyPr>
            <a:normAutofit fontScale="85000" lnSpcReduction="20000"/>
          </a:bodyPr>
          <a:lstStyle/>
          <a:p>
            <a:pPr algn="l">
              <a:buNone/>
            </a:pPr>
            <a:r>
              <a:rPr lang="en-US" b="0" i="0" dirty="0">
                <a:solidFill>
                  <a:srgbClr val="161616"/>
                </a:solidFill>
                <a:effectLst/>
                <a:latin typeface="Segoe UI" panose="020B0502040204020203" pitchFamily="34" charset="0"/>
              </a:rPr>
              <a:t>After data is ingested, transformed, and loaded, it's ready for others to use. Fabric items provide the flexibility needed for every organization so you can use the tools that work for you.</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Data scientists can use notebooks or Data wrangler to explore and train machine learning models for AI.</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Report developers can use the semantic model to create Power BI reports.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Analysts can use the SQL analytics endpoint to query, filter, aggregate, and otherwise explore data in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tables.</a:t>
            </a:r>
          </a:p>
          <a:p>
            <a:pPr algn="l"/>
            <a:r>
              <a:rPr lang="en-US" b="0" i="0" dirty="0">
                <a:solidFill>
                  <a:srgbClr val="161616"/>
                </a:solidFill>
                <a:effectLst/>
                <a:latin typeface="Segoe UI" panose="020B0502040204020203" pitchFamily="34" charset="0"/>
              </a:rPr>
              <a:t>By combining the data visualization capabilities of Power BI with the centralized storage and tabular schema of a data </a:t>
            </a:r>
            <a:r>
              <a:rPr lang="en-US" b="0" i="0" dirty="0" err="1">
                <a:solidFill>
                  <a:srgbClr val="161616"/>
                </a:solidFill>
                <a:effectLst/>
                <a:latin typeface="Segoe UI" panose="020B0502040204020203" pitchFamily="34" charset="0"/>
              </a:rPr>
              <a:t>lakehouse</a:t>
            </a:r>
            <a:r>
              <a:rPr lang="en-US" b="0" i="0" dirty="0">
                <a:solidFill>
                  <a:srgbClr val="161616"/>
                </a:solidFill>
                <a:effectLst/>
                <a:latin typeface="Segoe UI" panose="020B0502040204020203" pitchFamily="34" charset="0"/>
              </a:rPr>
              <a:t>, you can implement an end-to-end analytics solution on a single platform.</a:t>
            </a:r>
          </a:p>
          <a:p>
            <a:pPr marL="0" indent="0">
              <a:buNone/>
            </a:pPr>
            <a:endParaRPr lang="en-US" dirty="0"/>
          </a:p>
        </p:txBody>
      </p:sp>
    </p:spTree>
    <p:extLst>
      <p:ext uri="{BB962C8B-B14F-4D97-AF65-F5344CB8AC3E}">
        <p14:creationId xmlns:p14="http://schemas.microsoft.com/office/powerpoint/2010/main" val="26868771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87D6A-4482-4803-8CBC-912C7C26ECA2}"/>
              </a:ext>
            </a:extLst>
          </p:cNvPr>
          <p:cNvSpPr>
            <a:spLocks noGrp="1"/>
          </p:cNvSpPr>
          <p:nvPr>
            <p:ph type="title"/>
          </p:nvPr>
        </p:nvSpPr>
        <p:spPr/>
        <p:txBody>
          <a:bodyPr/>
          <a:lstStyle/>
          <a:p>
            <a:r>
              <a:rPr lang="en-US" dirty="0"/>
              <a:t>Warehouse</a:t>
            </a:r>
          </a:p>
        </p:txBody>
      </p:sp>
      <p:sp>
        <p:nvSpPr>
          <p:cNvPr id="3" name="Text Placeholder 2">
            <a:extLst>
              <a:ext uri="{FF2B5EF4-FFF2-40B4-BE49-F238E27FC236}">
                <a16:creationId xmlns:a16="http://schemas.microsoft.com/office/drawing/2014/main" id="{AAA6D2FF-D2C2-C358-4233-B4B334C0E7A0}"/>
              </a:ext>
            </a:extLst>
          </p:cNvPr>
          <p:cNvSpPr>
            <a:spLocks noGrp="1"/>
          </p:cNvSpPr>
          <p:nvPr>
            <p:ph type="body" idx="1"/>
          </p:nvPr>
        </p:nvSpPr>
        <p:spPr/>
        <p:txBody>
          <a:bodyPr/>
          <a:lstStyle/>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Warehouse fundamentals</a:t>
            </a:r>
          </a:p>
          <a:p>
            <a:pPr marL="342900" indent="-342900">
              <a:buFont typeface="Arial" panose="020B0604020202020204" pitchFamily="34" charset="0"/>
              <a:buChar char="•"/>
            </a:pPr>
            <a:r>
              <a:rPr lang="en-US" dirty="0"/>
              <a:t>Process</a:t>
            </a:r>
          </a:p>
        </p:txBody>
      </p:sp>
    </p:spTree>
    <p:extLst>
      <p:ext uri="{BB962C8B-B14F-4D97-AF65-F5344CB8AC3E}">
        <p14:creationId xmlns:p14="http://schemas.microsoft.com/office/powerpoint/2010/main" val="786137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A96D6A-9FBD-26EE-9243-25659CBD216C}"/>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A89DB378-8C64-0D36-7A5C-F6C6281F2159}"/>
              </a:ext>
            </a:extLst>
          </p:cNvPr>
          <p:cNvSpPr>
            <a:spLocks noGrp="1"/>
          </p:cNvSpPr>
          <p:nvPr>
            <p:ph idx="1"/>
          </p:nvPr>
        </p:nvSpPr>
        <p:spPr/>
        <p:txBody>
          <a:bodyPr>
            <a:normAutofit fontScale="70000" lnSpcReduction="20000"/>
          </a:bodyPr>
          <a:lstStyle/>
          <a:p>
            <a:pPr algn="l">
              <a:buNone/>
            </a:pPr>
            <a:r>
              <a:rPr lang="en-US" b="0" i="0" dirty="0">
                <a:solidFill>
                  <a:srgbClr val="161616"/>
                </a:solidFill>
                <a:effectLst/>
                <a:latin typeface="Segoe UI" panose="020B0502040204020203" pitchFamily="34" charset="0"/>
              </a:rPr>
              <a:t>Relational data warehouses are at the center of most enterprise business intelligence (BI) solutions. While the specific details may vary across data warehouse implementations, a common pattern based on a denormalized, multidimensional schema has emerged as the standard design for a relational data warehouse.</a:t>
            </a:r>
          </a:p>
          <a:p>
            <a:pPr algn="l">
              <a:buNone/>
            </a:pPr>
            <a:r>
              <a:rPr lang="en-US" b="0" i="0" dirty="0">
                <a:solidFill>
                  <a:srgbClr val="161616"/>
                </a:solidFill>
                <a:effectLst/>
                <a:latin typeface="Segoe UI" panose="020B0502040204020203" pitchFamily="34" charset="0"/>
              </a:rPr>
              <a:t>Microsoft Fabric's data warehouse is a modern version of the traditional data warehouse. It centralizes and organizes data from different departments, systems, and databases into a single, unified view for analysis and reporting purposes. Fabric's data warehouse provides full SQL semantics, including the ability to insert, update, and delete data in the tables. Fabric's data warehouse is unique because it's built on the Lakehouse, which is stored in Delta format and can be queried using SQL. It's designed for use by the whole data team, not just data engineers.</a:t>
            </a:r>
          </a:p>
          <a:p>
            <a:pPr algn="l">
              <a:buNone/>
            </a:pPr>
            <a:r>
              <a:rPr lang="en-US" b="0" i="0" dirty="0">
                <a:solidFill>
                  <a:srgbClr val="161616"/>
                </a:solidFill>
                <a:effectLst/>
                <a:latin typeface="Segoe UI" panose="020B0502040204020203" pitchFamily="34" charset="0"/>
              </a:rPr>
              <a:t>Fabric's data warehouse experience is designed to address these challenges. Fabric enables data engineers, analysts, and data scientists to work together to create and query a data warehouse that is optimized for their specific needs.</a:t>
            </a:r>
          </a:p>
          <a:p>
            <a:pPr algn="l"/>
            <a:r>
              <a:rPr lang="en-US" b="0" i="0" dirty="0">
                <a:solidFill>
                  <a:srgbClr val="161616"/>
                </a:solidFill>
                <a:effectLst/>
                <a:latin typeface="Segoe UI" panose="020B0502040204020203" pitchFamily="34" charset="0"/>
              </a:rPr>
              <a:t>In this module, you'll learn about data warehouses in Fabric, create a data warehouse, load, query, and visualize data.</a:t>
            </a:r>
          </a:p>
          <a:p>
            <a:endParaRPr lang="en-US" dirty="0"/>
          </a:p>
        </p:txBody>
      </p:sp>
    </p:spTree>
    <p:extLst>
      <p:ext uri="{BB962C8B-B14F-4D97-AF65-F5344CB8AC3E}">
        <p14:creationId xmlns:p14="http://schemas.microsoft.com/office/powerpoint/2010/main" val="2138343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52F41-BF5F-9CA6-92E4-4389AD56EA64}"/>
              </a:ext>
            </a:extLst>
          </p:cNvPr>
          <p:cNvSpPr>
            <a:spLocks noGrp="1"/>
          </p:cNvSpPr>
          <p:nvPr>
            <p:ph type="title"/>
          </p:nvPr>
        </p:nvSpPr>
        <p:spPr/>
        <p:txBody>
          <a:bodyPr/>
          <a:lstStyle/>
          <a:p>
            <a:r>
              <a:rPr lang="en-US" dirty="0"/>
              <a:t>Fundamentals</a:t>
            </a:r>
          </a:p>
        </p:txBody>
      </p:sp>
      <p:sp>
        <p:nvSpPr>
          <p:cNvPr id="3" name="Content Placeholder 2">
            <a:extLst>
              <a:ext uri="{FF2B5EF4-FFF2-40B4-BE49-F238E27FC236}">
                <a16:creationId xmlns:a16="http://schemas.microsoft.com/office/drawing/2014/main" id="{1C8ADA6C-8F5E-61C7-FD34-8B0AF8615DA1}"/>
              </a:ext>
            </a:extLst>
          </p:cNvPr>
          <p:cNvSpPr>
            <a:spLocks noGrp="1"/>
          </p:cNvSpPr>
          <p:nvPr>
            <p:ph idx="1"/>
          </p:nvPr>
        </p:nvSpPr>
        <p:spPr/>
        <p:txBody>
          <a:bodyPr>
            <a:normAutofit fontScale="85000" lnSpcReduction="20000"/>
          </a:bodyPr>
          <a:lstStyle/>
          <a:p>
            <a:pPr algn="l">
              <a:buNone/>
            </a:pPr>
            <a:r>
              <a:rPr lang="en-US" b="0" i="0" dirty="0">
                <a:solidFill>
                  <a:srgbClr val="161616"/>
                </a:solidFill>
                <a:effectLst/>
                <a:latin typeface="Segoe UI" panose="020B0502040204020203" pitchFamily="34" charset="0"/>
              </a:rPr>
              <a:t>The process of building a modern data warehouse typically consists of:</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Data ingestion - moving data from source systems into a data warehouse.</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Data storage - storing the data in a format that is optimized for analytics.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Data processing - transforming the data into a format that is ready for consumption by analytical tools.</a:t>
            </a: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Data analysis and delivery - analyzing the data to gain insights and delivering those insights to the business.</a:t>
            </a:r>
          </a:p>
          <a:p>
            <a:pPr marL="0" indent="0" algn="l">
              <a:buNone/>
            </a:pPr>
            <a:r>
              <a:rPr lang="en-US" b="0" i="0" dirty="0">
                <a:solidFill>
                  <a:srgbClr val="161616"/>
                </a:solidFill>
                <a:effectLst/>
                <a:latin typeface="Segoe UI" panose="020B0502040204020203" pitchFamily="34" charset="0"/>
              </a:rPr>
              <a:t>Microsoft Fabric enables data engineers and analysts to ingest, store, transform, and visualize data all in one tool with both a low-code and traditional experience</a:t>
            </a:r>
          </a:p>
          <a:p>
            <a:endParaRPr lang="en-US" dirty="0"/>
          </a:p>
        </p:txBody>
      </p:sp>
    </p:spTree>
    <p:extLst>
      <p:ext uri="{BB962C8B-B14F-4D97-AF65-F5344CB8AC3E}">
        <p14:creationId xmlns:p14="http://schemas.microsoft.com/office/powerpoint/2010/main" val="2920825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3103-0833-C3E8-B9D5-B1AECAF9E88A}"/>
              </a:ext>
            </a:extLst>
          </p:cNvPr>
          <p:cNvSpPr>
            <a:spLocks noGrp="1"/>
          </p:cNvSpPr>
          <p:nvPr>
            <p:ph type="title"/>
          </p:nvPr>
        </p:nvSpPr>
        <p:spPr/>
        <p:txBody>
          <a:bodyPr/>
          <a:lstStyle/>
          <a:p>
            <a:r>
              <a:rPr lang="en-US" dirty="0"/>
              <a:t>Design the Data Warehouse</a:t>
            </a:r>
          </a:p>
        </p:txBody>
      </p:sp>
      <p:sp>
        <p:nvSpPr>
          <p:cNvPr id="3" name="Content Placeholder 2">
            <a:extLst>
              <a:ext uri="{FF2B5EF4-FFF2-40B4-BE49-F238E27FC236}">
                <a16:creationId xmlns:a16="http://schemas.microsoft.com/office/drawing/2014/main" id="{C6AE7709-814D-3139-4B43-7DEABF3C5AC3}"/>
              </a:ext>
            </a:extLst>
          </p:cNvPr>
          <p:cNvSpPr>
            <a:spLocks noGrp="1"/>
          </p:cNvSpPr>
          <p:nvPr>
            <p:ph idx="1"/>
          </p:nvPr>
        </p:nvSpPr>
        <p:spPr/>
        <p:txBody>
          <a:bodyPr/>
          <a:lstStyle/>
          <a:p>
            <a:r>
              <a:rPr lang="en-US" b="0" i="0" dirty="0">
                <a:solidFill>
                  <a:srgbClr val="161616"/>
                </a:solidFill>
                <a:effectLst/>
                <a:latin typeface="Segoe UI" panose="020B0502040204020203" pitchFamily="34" charset="0"/>
              </a:rPr>
              <a:t>Like all relational databases, Fabric's data warehouse contains tables to store your data for analytics later. Most commonly, these tables are organized in a schema that is optimized for multidimensional modeling. In this approach, numerical data related to events (e.g. sales orders) are grouped by different attributes (e.g. date, customer, store). For instance, you can analyze the total amount paid for sales orders that occurred on a specific date or at a particular store.</a:t>
            </a:r>
            <a:endParaRPr lang="en-US" dirty="0"/>
          </a:p>
        </p:txBody>
      </p:sp>
    </p:spTree>
    <p:extLst>
      <p:ext uri="{BB962C8B-B14F-4D97-AF65-F5344CB8AC3E}">
        <p14:creationId xmlns:p14="http://schemas.microsoft.com/office/powerpoint/2010/main" val="3100096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043C-ED41-1632-3067-3F356126C1F5}"/>
              </a:ext>
            </a:extLst>
          </p:cNvPr>
          <p:cNvSpPr>
            <a:spLocks noGrp="1"/>
          </p:cNvSpPr>
          <p:nvPr>
            <p:ph type="title"/>
          </p:nvPr>
        </p:nvSpPr>
        <p:spPr/>
        <p:txBody>
          <a:bodyPr/>
          <a:lstStyle/>
          <a:p>
            <a:r>
              <a:rPr lang="en-US" dirty="0"/>
              <a:t>Tables</a:t>
            </a:r>
          </a:p>
        </p:txBody>
      </p:sp>
      <p:sp>
        <p:nvSpPr>
          <p:cNvPr id="3" name="Content Placeholder 2">
            <a:extLst>
              <a:ext uri="{FF2B5EF4-FFF2-40B4-BE49-F238E27FC236}">
                <a16:creationId xmlns:a16="http://schemas.microsoft.com/office/drawing/2014/main" id="{9495BB07-BB0F-9C51-CD81-499AF80900AE}"/>
              </a:ext>
            </a:extLst>
          </p:cNvPr>
          <p:cNvSpPr>
            <a:spLocks noGrp="1"/>
          </p:cNvSpPr>
          <p:nvPr>
            <p:ph idx="1"/>
          </p:nvPr>
        </p:nvSpPr>
        <p:spPr>
          <a:xfrm>
            <a:off x="203200" y="1690688"/>
            <a:ext cx="5232400" cy="4667779"/>
          </a:xfrm>
        </p:spPr>
        <p:txBody>
          <a:bodyPr>
            <a:normAutofit fontScale="85000" lnSpcReduction="20000"/>
          </a:bodyPr>
          <a:lstStyle/>
          <a:p>
            <a:pPr algn="l">
              <a:buNone/>
            </a:pPr>
            <a:r>
              <a:rPr lang="en-US" b="0" i="0" dirty="0">
                <a:solidFill>
                  <a:srgbClr val="161616"/>
                </a:solidFill>
                <a:effectLst/>
                <a:latin typeface="Segoe UI" panose="020B0502040204020203" pitchFamily="34" charset="0"/>
              </a:rPr>
              <a:t>Tables in a data warehouse are typically organized in a way that supports efficient and effective analysis of large amounts of data. This organization is often referred to as dimensional modeling, which involves structuring tables into fact tables and dimension tables.</a:t>
            </a:r>
          </a:p>
          <a:p>
            <a:pPr algn="l">
              <a:buNone/>
            </a:pPr>
            <a:r>
              <a:rPr lang="en-US" b="1" i="0" dirty="0">
                <a:solidFill>
                  <a:srgbClr val="161616"/>
                </a:solidFill>
                <a:effectLst/>
                <a:latin typeface="Segoe UI" panose="020B0502040204020203" pitchFamily="34" charset="0"/>
              </a:rPr>
              <a:t>Fact tables</a:t>
            </a:r>
            <a:r>
              <a:rPr lang="en-US" b="0" i="0" dirty="0">
                <a:solidFill>
                  <a:srgbClr val="161616"/>
                </a:solidFill>
                <a:effectLst/>
                <a:latin typeface="Segoe UI" panose="020B0502040204020203" pitchFamily="34" charset="0"/>
              </a:rPr>
              <a:t> contain the numerical data that you want to analyze. Fact tables typically have a large number of rows and are the primary source of data for analysis. For example, a fact table might contain the total amount paid for sales orders that occurred on a specific date or at a particular store.</a:t>
            </a:r>
          </a:p>
          <a:p>
            <a:endParaRPr lang="en-US" dirty="0"/>
          </a:p>
        </p:txBody>
      </p:sp>
      <p:graphicFrame>
        <p:nvGraphicFramePr>
          <p:cNvPr id="5" name="Table 4">
            <a:extLst>
              <a:ext uri="{FF2B5EF4-FFF2-40B4-BE49-F238E27FC236}">
                <a16:creationId xmlns:a16="http://schemas.microsoft.com/office/drawing/2014/main" id="{0DE718F9-5B6B-9F5D-5CBB-CCD5B046A219}"/>
              </a:ext>
            </a:extLst>
          </p:cNvPr>
          <p:cNvGraphicFramePr>
            <a:graphicFrameLocks noGrp="1"/>
          </p:cNvGraphicFramePr>
          <p:nvPr/>
        </p:nvGraphicFramePr>
        <p:xfrm>
          <a:off x="5435600" y="1328671"/>
          <a:ext cx="6561667" cy="4406649"/>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3206137039"/>
                    </a:ext>
                  </a:extLst>
                </a:gridCol>
                <a:gridCol w="1066800">
                  <a:extLst>
                    <a:ext uri="{9D8B030D-6E8A-4147-A177-3AD203B41FA5}">
                      <a16:colId xmlns:a16="http://schemas.microsoft.com/office/drawing/2014/main" val="910054635"/>
                    </a:ext>
                  </a:extLst>
                </a:gridCol>
                <a:gridCol w="1066800">
                  <a:extLst>
                    <a:ext uri="{9D8B030D-6E8A-4147-A177-3AD203B41FA5}">
                      <a16:colId xmlns:a16="http://schemas.microsoft.com/office/drawing/2014/main" val="124334477"/>
                    </a:ext>
                  </a:extLst>
                </a:gridCol>
                <a:gridCol w="1066800">
                  <a:extLst>
                    <a:ext uri="{9D8B030D-6E8A-4147-A177-3AD203B41FA5}">
                      <a16:colId xmlns:a16="http://schemas.microsoft.com/office/drawing/2014/main" val="583764859"/>
                    </a:ext>
                  </a:extLst>
                </a:gridCol>
                <a:gridCol w="1405467">
                  <a:extLst>
                    <a:ext uri="{9D8B030D-6E8A-4147-A177-3AD203B41FA5}">
                      <a16:colId xmlns:a16="http://schemas.microsoft.com/office/drawing/2014/main" val="1218952516"/>
                    </a:ext>
                  </a:extLst>
                </a:gridCol>
                <a:gridCol w="889000">
                  <a:extLst>
                    <a:ext uri="{9D8B030D-6E8A-4147-A177-3AD203B41FA5}">
                      <a16:colId xmlns:a16="http://schemas.microsoft.com/office/drawing/2014/main" val="3056983249"/>
                    </a:ext>
                  </a:extLst>
                </a:gridCol>
              </a:tblGrid>
              <a:tr h="637646">
                <a:tc>
                  <a:txBody>
                    <a:bodyPr/>
                    <a:lstStyle/>
                    <a:p>
                      <a:r>
                        <a:rPr lang="en-US" dirty="0" err="1"/>
                        <a:t>OrderID</a:t>
                      </a:r>
                      <a:endParaRPr lang="en-US" dirty="0"/>
                    </a:p>
                  </a:txBody>
                  <a:tcPr/>
                </a:tc>
                <a:tc>
                  <a:txBody>
                    <a:bodyPr/>
                    <a:lstStyle/>
                    <a:p>
                      <a:r>
                        <a:rPr lang="en-US" dirty="0" err="1"/>
                        <a:t>CustomerID</a:t>
                      </a:r>
                      <a:endParaRPr lang="en-US" dirty="0"/>
                    </a:p>
                  </a:txBody>
                  <a:tcPr/>
                </a:tc>
                <a:tc>
                  <a:txBody>
                    <a:bodyPr/>
                    <a:lstStyle/>
                    <a:p>
                      <a:r>
                        <a:rPr lang="en-US" dirty="0"/>
                        <a:t>Product ID</a:t>
                      </a:r>
                    </a:p>
                  </a:txBody>
                  <a:tcPr/>
                </a:tc>
                <a:tc>
                  <a:txBody>
                    <a:bodyPr/>
                    <a:lstStyle/>
                    <a:p>
                      <a:r>
                        <a:rPr lang="en-US" dirty="0"/>
                        <a:t>Quantity</a:t>
                      </a:r>
                    </a:p>
                  </a:txBody>
                  <a:tcPr/>
                </a:tc>
                <a:tc>
                  <a:txBody>
                    <a:bodyPr/>
                    <a:lstStyle/>
                    <a:p>
                      <a:r>
                        <a:rPr lang="en-US" dirty="0"/>
                        <a:t>Order date</a:t>
                      </a:r>
                    </a:p>
                  </a:txBody>
                  <a:tcPr/>
                </a:tc>
                <a:tc>
                  <a:txBody>
                    <a:bodyPr/>
                    <a:lstStyle/>
                    <a:p>
                      <a:r>
                        <a:rPr lang="en-US" dirty="0"/>
                        <a:t>Total Amount</a:t>
                      </a:r>
                    </a:p>
                  </a:txBody>
                  <a:tcPr/>
                </a:tc>
                <a:extLst>
                  <a:ext uri="{0D108BD9-81ED-4DB2-BD59-A6C34878D82A}">
                    <a16:rowId xmlns:a16="http://schemas.microsoft.com/office/drawing/2014/main" val="1282896068"/>
                  </a:ext>
                </a:extLst>
              </a:tr>
              <a:tr h="564833">
                <a:tc>
                  <a:txBody>
                    <a:bodyPr/>
                    <a:lstStyle/>
                    <a:p>
                      <a:r>
                        <a:rPr lang="en-US" dirty="0"/>
                        <a:t>101</a:t>
                      </a:r>
                    </a:p>
                  </a:txBody>
                  <a:tcPr/>
                </a:tc>
                <a:tc>
                  <a:txBody>
                    <a:bodyPr/>
                    <a:lstStyle/>
                    <a:p>
                      <a:r>
                        <a:rPr lang="en-US" dirty="0"/>
                        <a:t>5005</a:t>
                      </a:r>
                    </a:p>
                  </a:txBody>
                  <a:tcPr/>
                </a:tc>
                <a:tc>
                  <a:txBody>
                    <a:bodyPr/>
                    <a:lstStyle/>
                    <a:p>
                      <a:r>
                        <a:rPr lang="en-US" dirty="0"/>
                        <a:t>A12</a:t>
                      </a:r>
                    </a:p>
                  </a:txBody>
                  <a:tcPr/>
                </a:tc>
                <a:tc>
                  <a:txBody>
                    <a:bodyPr/>
                    <a:lstStyle/>
                    <a:p>
                      <a:r>
                        <a:rPr lang="en-US" dirty="0"/>
                        <a:t>7</a:t>
                      </a:r>
                    </a:p>
                  </a:txBody>
                  <a:tcPr/>
                </a:tc>
                <a:tc>
                  <a:txBody>
                    <a:bodyPr/>
                    <a:lstStyle/>
                    <a:p>
                      <a:r>
                        <a:rPr lang="en-US" dirty="0"/>
                        <a:t>23-dec-2022</a:t>
                      </a:r>
                    </a:p>
                  </a:txBody>
                  <a:tcPr/>
                </a:tc>
                <a:tc>
                  <a:txBody>
                    <a:bodyPr/>
                    <a:lstStyle/>
                    <a:p>
                      <a:r>
                        <a:rPr lang="en-US" dirty="0"/>
                        <a:t>7000</a:t>
                      </a:r>
                    </a:p>
                  </a:txBody>
                  <a:tcPr/>
                </a:tc>
                <a:extLst>
                  <a:ext uri="{0D108BD9-81ED-4DB2-BD59-A6C34878D82A}">
                    <a16:rowId xmlns:a16="http://schemas.microsoft.com/office/drawing/2014/main" val="1755219421"/>
                  </a:ext>
                </a:extLst>
              </a:tr>
              <a:tr h="533400">
                <a:tc>
                  <a:txBody>
                    <a:bodyPr/>
                    <a:lstStyle/>
                    <a:p>
                      <a:r>
                        <a:rPr lang="en-US" dirty="0"/>
                        <a:t>102</a:t>
                      </a:r>
                    </a:p>
                  </a:txBody>
                  <a:tcPr/>
                </a:tc>
                <a:tc>
                  <a:txBody>
                    <a:bodyPr/>
                    <a:lstStyle/>
                    <a:p>
                      <a:r>
                        <a:rPr lang="en-US" dirty="0"/>
                        <a:t>5002</a:t>
                      </a:r>
                    </a:p>
                  </a:txBody>
                  <a:tcPr/>
                </a:tc>
                <a:tc>
                  <a:txBody>
                    <a:bodyPr/>
                    <a:lstStyle/>
                    <a:p>
                      <a:r>
                        <a:rPr lang="en-US" dirty="0"/>
                        <a:t>A12</a:t>
                      </a:r>
                    </a:p>
                  </a:txBody>
                  <a:tcPr/>
                </a:tc>
                <a:tc>
                  <a:txBody>
                    <a:bodyPr/>
                    <a:lstStyle/>
                    <a:p>
                      <a:r>
                        <a:rPr lang="en-US" dirty="0"/>
                        <a:t>1</a:t>
                      </a:r>
                    </a:p>
                  </a:txBody>
                  <a:tcPr/>
                </a:tc>
                <a:tc>
                  <a:txBody>
                    <a:bodyPr/>
                    <a:lstStyle/>
                    <a:p>
                      <a:r>
                        <a:rPr lang="en-US" dirty="0"/>
                        <a:t>05-jan-2021</a:t>
                      </a:r>
                    </a:p>
                  </a:txBody>
                  <a:tcPr/>
                </a:tc>
                <a:tc>
                  <a:txBody>
                    <a:bodyPr/>
                    <a:lstStyle/>
                    <a:p>
                      <a:r>
                        <a:rPr lang="en-US" dirty="0"/>
                        <a:t>1000</a:t>
                      </a:r>
                    </a:p>
                  </a:txBody>
                  <a:tcPr/>
                </a:tc>
                <a:extLst>
                  <a:ext uri="{0D108BD9-81ED-4DB2-BD59-A6C34878D82A}">
                    <a16:rowId xmlns:a16="http://schemas.microsoft.com/office/drawing/2014/main" val="488339582"/>
                  </a:ext>
                </a:extLst>
              </a:tr>
              <a:tr h="533400">
                <a:tc>
                  <a:txBody>
                    <a:bodyPr/>
                    <a:lstStyle/>
                    <a:p>
                      <a:r>
                        <a:rPr lang="en-US" dirty="0"/>
                        <a:t>103</a:t>
                      </a:r>
                    </a:p>
                  </a:txBody>
                  <a:tcPr/>
                </a:tc>
                <a:tc>
                  <a:txBody>
                    <a:bodyPr/>
                    <a:lstStyle/>
                    <a:p>
                      <a:r>
                        <a:rPr lang="en-US" dirty="0"/>
                        <a:t>5005</a:t>
                      </a:r>
                    </a:p>
                  </a:txBody>
                  <a:tcPr/>
                </a:tc>
                <a:tc>
                  <a:txBody>
                    <a:bodyPr/>
                    <a:lstStyle/>
                    <a:p>
                      <a:r>
                        <a:rPr lang="en-US" dirty="0"/>
                        <a:t>A15</a:t>
                      </a:r>
                    </a:p>
                  </a:txBody>
                  <a:tcPr/>
                </a:tc>
                <a:tc>
                  <a:txBody>
                    <a:bodyPr/>
                    <a:lstStyle/>
                    <a:p>
                      <a:r>
                        <a:rPr lang="en-US" dirty="0"/>
                        <a:t>5</a:t>
                      </a:r>
                    </a:p>
                  </a:txBody>
                  <a:tcPr/>
                </a:tc>
                <a:tc>
                  <a:txBody>
                    <a:bodyPr/>
                    <a:lstStyle/>
                    <a:p>
                      <a:r>
                        <a:rPr lang="en-US" dirty="0"/>
                        <a:t>30-apr-2024</a:t>
                      </a:r>
                    </a:p>
                  </a:txBody>
                  <a:tcPr/>
                </a:tc>
                <a:tc>
                  <a:txBody>
                    <a:bodyPr/>
                    <a:lstStyle/>
                    <a:p>
                      <a:r>
                        <a:rPr lang="en-US" dirty="0"/>
                        <a:t>500</a:t>
                      </a:r>
                    </a:p>
                  </a:txBody>
                  <a:tcPr/>
                </a:tc>
                <a:extLst>
                  <a:ext uri="{0D108BD9-81ED-4DB2-BD59-A6C34878D82A}">
                    <a16:rowId xmlns:a16="http://schemas.microsoft.com/office/drawing/2014/main" val="3656780390"/>
                  </a:ext>
                </a:extLst>
              </a:tr>
              <a:tr h="607549">
                <a:tc>
                  <a:txBody>
                    <a:bodyPr/>
                    <a:lstStyle/>
                    <a:p>
                      <a:r>
                        <a:rPr lang="en-US" dirty="0"/>
                        <a:t>104</a:t>
                      </a:r>
                    </a:p>
                  </a:txBody>
                  <a:tcPr/>
                </a:tc>
                <a:tc>
                  <a:txBody>
                    <a:bodyPr/>
                    <a:lstStyle/>
                    <a:p>
                      <a:r>
                        <a:rPr lang="en-US" dirty="0"/>
                        <a:t>5003</a:t>
                      </a:r>
                    </a:p>
                  </a:txBody>
                  <a:tcPr/>
                </a:tc>
                <a:tc>
                  <a:txBody>
                    <a:bodyPr/>
                    <a:lstStyle/>
                    <a:p>
                      <a:r>
                        <a:rPr lang="en-US" dirty="0"/>
                        <a:t>B23</a:t>
                      </a:r>
                    </a:p>
                  </a:txBody>
                  <a:tcPr/>
                </a:tc>
                <a:tc>
                  <a:txBody>
                    <a:bodyPr/>
                    <a:lstStyle/>
                    <a:p>
                      <a:r>
                        <a:rPr lang="en-US" dirty="0"/>
                        <a:t>3</a:t>
                      </a:r>
                    </a:p>
                  </a:txBody>
                  <a:tcPr/>
                </a:tc>
                <a:tc>
                  <a:txBody>
                    <a:bodyPr/>
                    <a:lstStyle/>
                    <a:p>
                      <a:r>
                        <a:rPr lang="en-US" dirty="0"/>
                        <a:t>23-feb-2024</a:t>
                      </a:r>
                    </a:p>
                  </a:txBody>
                  <a:tcPr/>
                </a:tc>
                <a:tc>
                  <a:txBody>
                    <a:bodyPr/>
                    <a:lstStyle/>
                    <a:p>
                      <a:r>
                        <a:rPr lang="en-US" dirty="0"/>
                        <a:t>300</a:t>
                      </a:r>
                    </a:p>
                  </a:txBody>
                  <a:tcPr/>
                </a:tc>
                <a:extLst>
                  <a:ext uri="{0D108BD9-81ED-4DB2-BD59-A6C34878D82A}">
                    <a16:rowId xmlns:a16="http://schemas.microsoft.com/office/drawing/2014/main" val="1246029217"/>
                  </a:ext>
                </a:extLst>
              </a:tr>
              <a:tr h="651934">
                <a:tc>
                  <a:txBody>
                    <a:bodyPr/>
                    <a:lstStyle/>
                    <a:p>
                      <a:r>
                        <a:rPr lang="en-US" dirty="0"/>
                        <a:t>105</a:t>
                      </a:r>
                    </a:p>
                  </a:txBody>
                  <a:tcPr/>
                </a:tc>
                <a:tc>
                  <a:txBody>
                    <a:bodyPr/>
                    <a:lstStyle/>
                    <a:p>
                      <a:r>
                        <a:rPr lang="en-US" dirty="0"/>
                        <a:t>5001</a:t>
                      </a:r>
                    </a:p>
                  </a:txBody>
                  <a:tcPr/>
                </a:tc>
                <a:tc>
                  <a:txBody>
                    <a:bodyPr/>
                    <a:lstStyle/>
                    <a:p>
                      <a:r>
                        <a:rPr lang="en-US" dirty="0"/>
                        <a:t>B23</a:t>
                      </a:r>
                    </a:p>
                  </a:txBody>
                  <a:tcPr/>
                </a:tc>
                <a:tc>
                  <a:txBody>
                    <a:bodyPr/>
                    <a:lstStyle/>
                    <a:p>
                      <a:r>
                        <a:rPr lang="en-US" dirty="0"/>
                        <a:t>4</a:t>
                      </a:r>
                    </a:p>
                  </a:txBody>
                  <a:tcPr/>
                </a:tc>
                <a:tc>
                  <a:txBody>
                    <a:bodyPr/>
                    <a:lstStyle/>
                    <a:p>
                      <a:r>
                        <a:rPr lang="en-US" dirty="0"/>
                        <a:t>05-jan-2021</a:t>
                      </a:r>
                    </a:p>
                  </a:txBody>
                  <a:tcPr/>
                </a:tc>
                <a:tc>
                  <a:txBody>
                    <a:bodyPr/>
                    <a:lstStyle/>
                    <a:p>
                      <a:r>
                        <a:rPr lang="en-US" dirty="0"/>
                        <a:t>400</a:t>
                      </a:r>
                    </a:p>
                  </a:txBody>
                  <a:tcPr/>
                </a:tc>
                <a:extLst>
                  <a:ext uri="{0D108BD9-81ED-4DB2-BD59-A6C34878D82A}">
                    <a16:rowId xmlns:a16="http://schemas.microsoft.com/office/drawing/2014/main" val="3473165835"/>
                  </a:ext>
                </a:extLst>
              </a:tr>
              <a:tr h="601133">
                <a:tc>
                  <a:txBody>
                    <a:bodyPr/>
                    <a:lstStyle/>
                    <a:p>
                      <a:r>
                        <a:rPr lang="en-US" dirty="0"/>
                        <a:t>106</a:t>
                      </a:r>
                    </a:p>
                  </a:txBody>
                  <a:tcPr/>
                </a:tc>
                <a:tc>
                  <a:txBody>
                    <a:bodyPr/>
                    <a:lstStyle/>
                    <a:p>
                      <a:r>
                        <a:rPr lang="en-US" dirty="0"/>
                        <a:t>5003</a:t>
                      </a:r>
                    </a:p>
                  </a:txBody>
                  <a:tcPr/>
                </a:tc>
                <a:tc>
                  <a:txBody>
                    <a:bodyPr/>
                    <a:lstStyle/>
                    <a:p>
                      <a:r>
                        <a:rPr lang="en-US" dirty="0"/>
                        <a:t>A27</a:t>
                      </a:r>
                    </a:p>
                  </a:txBody>
                  <a:tcPr/>
                </a:tc>
                <a:tc>
                  <a:txBody>
                    <a:bodyPr/>
                    <a:lstStyle/>
                    <a:p>
                      <a:r>
                        <a:rPr lang="en-US" dirty="0"/>
                        <a:t>4</a:t>
                      </a:r>
                    </a:p>
                  </a:txBody>
                  <a:tcPr/>
                </a:tc>
                <a:tc>
                  <a:txBody>
                    <a:bodyPr/>
                    <a:lstStyle/>
                    <a:p>
                      <a:r>
                        <a:rPr lang="en-US" dirty="0"/>
                        <a:t>25-dec-2025</a:t>
                      </a:r>
                    </a:p>
                  </a:txBody>
                  <a:tcPr/>
                </a:tc>
                <a:tc>
                  <a:txBody>
                    <a:bodyPr/>
                    <a:lstStyle/>
                    <a:p>
                      <a:r>
                        <a:rPr lang="en-US" dirty="0"/>
                        <a:t>4000</a:t>
                      </a:r>
                    </a:p>
                  </a:txBody>
                  <a:tcPr/>
                </a:tc>
                <a:extLst>
                  <a:ext uri="{0D108BD9-81ED-4DB2-BD59-A6C34878D82A}">
                    <a16:rowId xmlns:a16="http://schemas.microsoft.com/office/drawing/2014/main" val="1895561715"/>
                  </a:ext>
                </a:extLst>
              </a:tr>
            </a:tbl>
          </a:graphicData>
        </a:graphic>
      </p:graphicFrame>
    </p:spTree>
    <p:extLst>
      <p:ext uri="{BB962C8B-B14F-4D97-AF65-F5344CB8AC3E}">
        <p14:creationId xmlns:p14="http://schemas.microsoft.com/office/powerpoint/2010/main" val="1117545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7E0CC-0F10-2407-235C-BACEC5AFC8A0}"/>
              </a:ext>
            </a:extLst>
          </p:cNvPr>
          <p:cNvSpPr>
            <a:spLocks noGrp="1"/>
          </p:cNvSpPr>
          <p:nvPr>
            <p:ph type="title"/>
          </p:nvPr>
        </p:nvSpPr>
        <p:spPr/>
        <p:txBody>
          <a:bodyPr/>
          <a:lstStyle/>
          <a:p>
            <a:r>
              <a:rPr lang="en-US" dirty="0"/>
              <a:t>Dimension tables</a:t>
            </a:r>
          </a:p>
        </p:txBody>
      </p:sp>
      <p:sp>
        <p:nvSpPr>
          <p:cNvPr id="3" name="Content Placeholder 2">
            <a:extLst>
              <a:ext uri="{FF2B5EF4-FFF2-40B4-BE49-F238E27FC236}">
                <a16:creationId xmlns:a16="http://schemas.microsoft.com/office/drawing/2014/main" id="{94498A1B-D62B-135B-B0EC-3EE4B3EEB9FC}"/>
              </a:ext>
            </a:extLst>
          </p:cNvPr>
          <p:cNvSpPr>
            <a:spLocks noGrp="1"/>
          </p:cNvSpPr>
          <p:nvPr>
            <p:ph idx="1"/>
          </p:nvPr>
        </p:nvSpPr>
        <p:spPr>
          <a:xfrm>
            <a:off x="347134" y="1690688"/>
            <a:ext cx="4800599" cy="4486275"/>
          </a:xfrm>
        </p:spPr>
        <p:txBody>
          <a:bodyPr>
            <a:normAutofit lnSpcReduction="10000"/>
          </a:bodyPr>
          <a:lstStyle/>
          <a:p>
            <a:pPr marL="0" indent="0">
              <a:buNone/>
            </a:pPr>
            <a:r>
              <a:rPr lang="en-US" b="1" i="0" dirty="0">
                <a:solidFill>
                  <a:srgbClr val="161616"/>
                </a:solidFill>
                <a:effectLst/>
                <a:latin typeface="Segoe UI" panose="020B0502040204020203" pitchFamily="34" charset="0"/>
              </a:rPr>
              <a:t>Dimension tables</a:t>
            </a:r>
            <a:r>
              <a:rPr lang="en-US" b="0" i="0" dirty="0">
                <a:solidFill>
                  <a:srgbClr val="161616"/>
                </a:solidFill>
                <a:effectLst/>
                <a:latin typeface="Segoe UI" panose="020B0502040204020203" pitchFamily="34" charset="0"/>
              </a:rPr>
              <a:t> contain descriptive information about the data in the fact tables. Dimension tables typically have a small number of rows and are used to provide context for the data in the fact tables. For example, a dimension table might contain information about the customers who placed sales orders</a:t>
            </a:r>
            <a:endParaRPr lang="en-US" dirty="0"/>
          </a:p>
        </p:txBody>
      </p:sp>
      <p:graphicFrame>
        <p:nvGraphicFramePr>
          <p:cNvPr id="4" name="Table 3">
            <a:extLst>
              <a:ext uri="{FF2B5EF4-FFF2-40B4-BE49-F238E27FC236}">
                <a16:creationId xmlns:a16="http://schemas.microsoft.com/office/drawing/2014/main" id="{50F34BC9-89A9-26A6-FCC9-41BD35544197}"/>
              </a:ext>
            </a:extLst>
          </p:cNvPr>
          <p:cNvGraphicFramePr>
            <a:graphicFrameLocks noGrp="1"/>
          </p:cNvGraphicFramePr>
          <p:nvPr/>
        </p:nvGraphicFramePr>
        <p:xfrm>
          <a:off x="5207000" y="1574800"/>
          <a:ext cx="6637872" cy="3931920"/>
        </p:xfrm>
        <a:graphic>
          <a:graphicData uri="http://schemas.openxmlformats.org/drawingml/2006/table">
            <a:tbl>
              <a:tblPr firstRow="1" bandRow="1">
                <a:tableStyleId>{5C22544A-7EE6-4342-B048-85BDC9FD1C3A}</a:tableStyleId>
              </a:tblPr>
              <a:tblGrid>
                <a:gridCol w="1185333">
                  <a:extLst>
                    <a:ext uri="{9D8B030D-6E8A-4147-A177-3AD203B41FA5}">
                      <a16:colId xmlns:a16="http://schemas.microsoft.com/office/drawing/2014/main" val="1453521808"/>
                    </a:ext>
                  </a:extLst>
                </a:gridCol>
                <a:gridCol w="1778000">
                  <a:extLst>
                    <a:ext uri="{9D8B030D-6E8A-4147-A177-3AD203B41FA5}">
                      <a16:colId xmlns:a16="http://schemas.microsoft.com/office/drawing/2014/main" val="3541337152"/>
                    </a:ext>
                  </a:extLst>
                </a:gridCol>
                <a:gridCol w="2015071">
                  <a:extLst>
                    <a:ext uri="{9D8B030D-6E8A-4147-A177-3AD203B41FA5}">
                      <a16:colId xmlns:a16="http://schemas.microsoft.com/office/drawing/2014/main" val="2387912585"/>
                    </a:ext>
                  </a:extLst>
                </a:gridCol>
                <a:gridCol w="1659468">
                  <a:extLst>
                    <a:ext uri="{9D8B030D-6E8A-4147-A177-3AD203B41FA5}">
                      <a16:colId xmlns:a16="http://schemas.microsoft.com/office/drawing/2014/main" val="2866197313"/>
                    </a:ext>
                  </a:extLst>
                </a:gridCol>
              </a:tblGrid>
              <a:tr h="655320">
                <a:tc>
                  <a:txBody>
                    <a:bodyPr/>
                    <a:lstStyle/>
                    <a:p>
                      <a:r>
                        <a:rPr lang="en-US" dirty="0" err="1"/>
                        <a:t>Cust_id</a:t>
                      </a:r>
                      <a:endParaRPr lang="en-US" dirty="0"/>
                    </a:p>
                  </a:txBody>
                  <a:tcPr/>
                </a:tc>
                <a:tc>
                  <a:txBody>
                    <a:bodyPr/>
                    <a:lstStyle/>
                    <a:p>
                      <a:r>
                        <a:rPr lang="en-US" dirty="0"/>
                        <a:t>Name</a:t>
                      </a:r>
                    </a:p>
                  </a:txBody>
                  <a:tcPr/>
                </a:tc>
                <a:tc>
                  <a:txBody>
                    <a:bodyPr/>
                    <a:lstStyle/>
                    <a:p>
                      <a:r>
                        <a:rPr lang="en-US" dirty="0"/>
                        <a:t>email</a:t>
                      </a:r>
                    </a:p>
                  </a:txBody>
                  <a:tcPr/>
                </a:tc>
                <a:tc>
                  <a:txBody>
                    <a:bodyPr/>
                    <a:lstStyle/>
                    <a:p>
                      <a:r>
                        <a:rPr lang="en-US" dirty="0" err="1"/>
                        <a:t>PhoneNumber</a:t>
                      </a:r>
                      <a:endParaRPr lang="en-US" dirty="0"/>
                    </a:p>
                  </a:txBody>
                  <a:tcPr/>
                </a:tc>
                <a:extLst>
                  <a:ext uri="{0D108BD9-81ED-4DB2-BD59-A6C34878D82A}">
                    <a16:rowId xmlns:a16="http://schemas.microsoft.com/office/drawing/2014/main" val="3359132013"/>
                  </a:ext>
                </a:extLst>
              </a:tr>
              <a:tr h="655320">
                <a:tc>
                  <a:txBody>
                    <a:bodyPr/>
                    <a:lstStyle/>
                    <a:p>
                      <a:r>
                        <a:rPr lang="en-US" dirty="0"/>
                        <a:t>5001</a:t>
                      </a:r>
                    </a:p>
                  </a:txBody>
                  <a:tcPr/>
                </a:tc>
                <a:tc>
                  <a:txBody>
                    <a:bodyPr/>
                    <a:lstStyle/>
                    <a:p>
                      <a:r>
                        <a:rPr lang="en-US" dirty="0"/>
                        <a:t>ABC</a:t>
                      </a:r>
                    </a:p>
                  </a:txBody>
                  <a:tcPr/>
                </a:tc>
                <a:tc>
                  <a:txBody>
                    <a:bodyPr/>
                    <a:lstStyle/>
                    <a:p>
                      <a:r>
                        <a:rPr lang="en-US" dirty="0"/>
                        <a:t>abc@gmail.com</a:t>
                      </a:r>
                    </a:p>
                  </a:txBody>
                  <a:tcPr/>
                </a:tc>
                <a:tc>
                  <a:txBody>
                    <a:bodyPr/>
                    <a:lstStyle/>
                    <a:p>
                      <a:r>
                        <a:rPr lang="en-US" dirty="0"/>
                        <a:t>9930405920</a:t>
                      </a:r>
                    </a:p>
                  </a:txBody>
                  <a:tcPr/>
                </a:tc>
                <a:extLst>
                  <a:ext uri="{0D108BD9-81ED-4DB2-BD59-A6C34878D82A}">
                    <a16:rowId xmlns:a16="http://schemas.microsoft.com/office/drawing/2014/main" val="3555288460"/>
                  </a:ext>
                </a:extLst>
              </a:tr>
              <a:tr h="655320">
                <a:tc>
                  <a:txBody>
                    <a:bodyPr/>
                    <a:lstStyle/>
                    <a:p>
                      <a:r>
                        <a:rPr lang="en-US" dirty="0"/>
                        <a:t>5002</a:t>
                      </a:r>
                    </a:p>
                  </a:txBody>
                  <a:tcPr/>
                </a:tc>
                <a:tc>
                  <a:txBody>
                    <a:bodyPr/>
                    <a:lstStyle/>
                    <a:p>
                      <a:r>
                        <a:rPr lang="en-US" dirty="0"/>
                        <a:t>PQR</a:t>
                      </a:r>
                    </a:p>
                  </a:txBody>
                  <a:tcPr/>
                </a:tc>
                <a:tc>
                  <a:txBody>
                    <a:bodyPr/>
                    <a:lstStyle/>
                    <a:p>
                      <a:r>
                        <a:rPr lang="en-US" dirty="0"/>
                        <a:t>pqr@gmail.com</a:t>
                      </a:r>
                    </a:p>
                  </a:txBody>
                  <a:tcPr/>
                </a:tc>
                <a:tc>
                  <a:txBody>
                    <a:bodyPr/>
                    <a:lstStyle/>
                    <a:p>
                      <a:r>
                        <a:rPr lang="en-US" dirty="0"/>
                        <a:t>9830988940</a:t>
                      </a:r>
                    </a:p>
                  </a:txBody>
                  <a:tcPr/>
                </a:tc>
                <a:extLst>
                  <a:ext uri="{0D108BD9-81ED-4DB2-BD59-A6C34878D82A}">
                    <a16:rowId xmlns:a16="http://schemas.microsoft.com/office/drawing/2014/main" val="289593915"/>
                  </a:ext>
                </a:extLst>
              </a:tr>
              <a:tr h="655320">
                <a:tc>
                  <a:txBody>
                    <a:bodyPr/>
                    <a:lstStyle/>
                    <a:p>
                      <a:r>
                        <a:rPr lang="en-US" dirty="0"/>
                        <a:t>5003</a:t>
                      </a:r>
                    </a:p>
                  </a:txBody>
                  <a:tcPr/>
                </a:tc>
                <a:tc>
                  <a:txBody>
                    <a:bodyPr/>
                    <a:lstStyle/>
                    <a:p>
                      <a:r>
                        <a:rPr lang="en-US" dirty="0"/>
                        <a:t>XYZ</a:t>
                      </a:r>
                    </a:p>
                  </a:txBody>
                  <a:tcPr/>
                </a:tc>
                <a:tc>
                  <a:txBody>
                    <a:bodyPr/>
                    <a:lstStyle/>
                    <a:p>
                      <a:r>
                        <a:rPr lang="en-US" dirty="0"/>
                        <a:t>xyz@gmail.com</a:t>
                      </a:r>
                    </a:p>
                  </a:txBody>
                  <a:tcPr/>
                </a:tc>
                <a:tc>
                  <a:txBody>
                    <a:bodyPr/>
                    <a:lstStyle/>
                    <a:p>
                      <a:r>
                        <a:rPr lang="en-US" dirty="0"/>
                        <a:t>9987809870</a:t>
                      </a:r>
                    </a:p>
                  </a:txBody>
                  <a:tcPr/>
                </a:tc>
                <a:extLst>
                  <a:ext uri="{0D108BD9-81ED-4DB2-BD59-A6C34878D82A}">
                    <a16:rowId xmlns:a16="http://schemas.microsoft.com/office/drawing/2014/main" val="3389966900"/>
                  </a:ext>
                </a:extLst>
              </a:tr>
              <a:tr h="655320">
                <a:tc>
                  <a:txBody>
                    <a:bodyPr/>
                    <a:lstStyle/>
                    <a:p>
                      <a:r>
                        <a:rPr lang="en-US" dirty="0"/>
                        <a:t>5004</a:t>
                      </a:r>
                    </a:p>
                  </a:txBody>
                  <a:tcPr/>
                </a:tc>
                <a:tc>
                  <a:txBody>
                    <a:bodyPr/>
                    <a:lstStyle/>
                    <a:p>
                      <a:r>
                        <a:rPr lang="en-US" dirty="0"/>
                        <a:t>MNO</a:t>
                      </a:r>
                    </a:p>
                  </a:txBody>
                  <a:tcPr/>
                </a:tc>
                <a:tc>
                  <a:txBody>
                    <a:bodyPr/>
                    <a:lstStyle/>
                    <a:p>
                      <a:r>
                        <a:rPr lang="en-US" dirty="0"/>
                        <a:t>mno@gmail.com</a:t>
                      </a:r>
                    </a:p>
                  </a:txBody>
                  <a:tcPr/>
                </a:tc>
                <a:tc>
                  <a:txBody>
                    <a:bodyPr/>
                    <a:lstStyle/>
                    <a:p>
                      <a:r>
                        <a:rPr lang="en-US" dirty="0"/>
                        <a:t>9878078906</a:t>
                      </a:r>
                    </a:p>
                  </a:txBody>
                  <a:tcPr/>
                </a:tc>
                <a:extLst>
                  <a:ext uri="{0D108BD9-81ED-4DB2-BD59-A6C34878D82A}">
                    <a16:rowId xmlns:a16="http://schemas.microsoft.com/office/drawing/2014/main" val="3119261020"/>
                  </a:ext>
                </a:extLst>
              </a:tr>
              <a:tr h="655320">
                <a:tc>
                  <a:txBody>
                    <a:bodyPr/>
                    <a:lstStyle/>
                    <a:p>
                      <a:r>
                        <a:rPr lang="en-US" dirty="0"/>
                        <a:t>5005</a:t>
                      </a:r>
                    </a:p>
                  </a:txBody>
                  <a:tcPr/>
                </a:tc>
                <a:tc>
                  <a:txBody>
                    <a:bodyPr/>
                    <a:lstStyle/>
                    <a:p>
                      <a:r>
                        <a:rPr lang="en-US" dirty="0"/>
                        <a:t>QWR</a:t>
                      </a:r>
                    </a:p>
                  </a:txBody>
                  <a:tcPr/>
                </a:tc>
                <a:tc>
                  <a:txBody>
                    <a:bodyPr/>
                    <a:lstStyle/>
                    <a:p>
                      <a:r>
                        <a:rPr lang="en-US" dirty="0"/>
                        <a:t>qwr@gmail.com</a:t>
                      </a:r>
                    </a:p>
                  </a:txBody>
                  <a:tcPr/>
                </a:tc>
                <a:tc>
                  <a:txBody>
                    <a:bodyPr/>
                    <a:lstStyle/>
                    <a:p>
                      <a:r>
                        <a:rPr lang="en-US" dirty="0"/>
                        <a:t>9960798067</a:t>
                      </a:r>
                    </a:p>
                  </a:txBody>
                  <a:tcPr/>
                </a:tc>
                <a:extLst>
                  <a:ext uri="{0D108BD9-81ED-4DB2-BD59-A6C34878D82A}">
                    <a16:rowId xmlns:a16="http://schemas.microsoft.com/office/drawing/2014/main" val="1147145004"/>
                  </a:ext>
                </a:extLst>
              </a:tr>
            </a:tbl>
          </a:graphicData>
        </a:graphic>
      </p:graphicFrame>
    </p:spTree>
    <p:extLst>
      <p:ext uri="{BB962C8B-B14F-4D97-AF65-F5344CB8AC3E}">
        <p14:creationId xmlns:p14="http://schemas.microsoft.com/office/powerpoint/2010/main" val="1393151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F822F-BEB2-5E0D-F32D-A08117EF1DF3}"/>
              </a:ext>
            </a:extLst>
          </p:cNvPr>
          <p:cNvSpPr>
            <a:spLocks noGrp="1"/>
          </p:cNvSpPr>
          <p:nvPr>
            <p:ph type="title"/>
          </p:nvPr>
        </p:nvSpPr>
        <p:spPr/>
        <p:txBody>
          <a:bodyPr/>
          <a:lstStyle/>
          <a:p>
            <a:r>
              <a:rPr lang="en-US" dirty="0"/>
              <a:t>Star Schema</a:t>
            </a:r>
          </a:p>
        </p:txBody>
      </p:sp>
      <p:pic>
        <p:nvPicPr>
          <p:cNvPr id="1026" name="Picture 2" descr="Understand star schema and the importance for Power BI - Power BI ...">
            <a:extLst>
              <a:ext uri="{FF2B5EF4-FFF2-40B4-BE49-F238E27FC236}">
                <a16:creationId xmlns:a16="http://schemas.microsoft.com/office/drawing/2014/main" id="{819AD875-1C31-0DCE-76BE-1EAF93FB7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438" y="1565801"/>
            <a:ext cx="7159095" cy="5055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2113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EEAF5-428F-801A-D02C-37D95DBCBD1E}"/>
              </a:ext>
            </a:extLst>
          </p:cNvPr>
          <p:cNvSpPr>
            <a:spLocks noGrp="1"/>
          </p:cNvSpPr>
          <p:nvPr>
            <p:ph type="title"/>
          </p:nvPr>
        </p:nvSpPr>
        <p:spPr/>
        <p:txBody>
          <a:bodyPr/>
          <a:lstStyle/>
          <a:p>
            <a:r>
              <a:rPr lang="en-US" dirty="0"/>
              <a:t>SNOWFLAKE SCHEMA </a:t>
            </a:r>
          </a:p>
        </p:txBody>
      </p:sp>
      <p:pic>
        <p:nvPicPr>
          <p:cNvPr id="5" name="Picture 4">
            <a:extLst>
              <a:ext uri="{FF2B5EF4-FFF2-40B4-BE49-F238E27FC236}">
                <a16:creationId xmlns:a16="http://schemas.microsoft.com/office/drawing/2014/main" id="{6BBCE042-47BE-CAB6-CBEB-1E391F7FE525}"/>
              </a:ext>
            </a:extLst>
          </p:cNvPr>
          <p:cNvPicPr>
            <a:picLocks noChangeAspect="1"/>
          </p:cNvPicPr>
          <p:nvPr/>
        </p:nvPicPr>
        <p:blipFill>
          <a:blip r:embed="rId2"/>
          <a:stretch>
            <a:fillRect/>
          </a:stretch>
        </p:blipFill>
        <p:spPr>
          <a:xfrm>
            <a:off x="592667" y="2191902"/>
            <a:ext cx="2945659" cy="3274986"/>
          </a:xfrm>
          <a:prstGeom prst="rect">
            <a:avLst/>
          </a:prstGeom>
        </p:spPr>
      </p:pic>
      <p:pic>
        <p:nvPicPr>
          <p:cNvPr id="2050" name="Picture 2" descr="Snowflake Schema Stock Illustration - Download Image Now - Business ...">
            <a:extLst>
              <a:ext uri="{FF2B5EF4-FFF2-40B4-BE49-F238E27FC236}">
                <a16:creationId xmlns:a16="http://schemas.microsoft.com/office/drawing/2014/main" id="{0118762C-EA74-B8E0-0C34-A858169B1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5575" y="2076450"/>
            <a:ext cx="6025092" cy="4016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090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1906</Words>
  <Application>Microsoft Office PowerPoint</Application>
  <PresentationFormat>Widescreen</PresentationFormat>
  <Paragraphs>193</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Segoe UI</vt:lpstr>
      <vt:lpstr>Office Theme</vt:lpstr>
      <vt:lpstr>Intro-2</vt:lpstr>
      <vt:lpstr>Create the free account and tenant settings</vt:lpstr>
      <vt:lpstr>PowerPoint Presentation</vt:lpstr>
      <vt:lpstr>Key highlights</vt:lpstr>
      <vt:lpstr>One lake</vt:lpstr>
      <vt:lpstr>PowerPoint Presentation</vt:lpstr>
      <vt:lpstr>LakeHouse</vt:lpstr>
      <vt:lpstr>Components of Fabric</vt:lpstr>
      <vt:lpstr>PowerPoint Presentation</vt:lpstr>
      <vt:lpstr>Users (Customers)</vt:lpstr>
      <vt:lpstr>When to use?</vt:lpstr>
      <vt:lpstr>Useful links</vt:lpstr>
      <vt:lpstr>LAKEHOUSE AND WAREHOUSE CREATION </vt:lpstr>
      <vt:lpstr>Steps</vt:lpstr>
      <vt:lpstr>GLIMPSE</vt:lpstr>
      <vt:lpstr>Glimpse</vt:lpstr>
      <vt:lpstr>Benefits </vt:lpstr>
      <vt:lpstr>Use</vt:lpstr>
      <vt:lpstr>Create and explore lakehouse</vt:lpstr>
      <vt:lpstr>PowerPoint Presentation</vt:lpstr>
      <vt:lpstr>PowerPoint Presentation</vt:lpstr>
      <vt:lpstr>PowerPoint Presentation</vt:lpstr>
      <vt:lpstr>PowerPoint Presentation</vt:lpstr>
      <vt:lpstr>Ingest data</vt:lpstr>
      <vt:lpstr>Ingest data</vt:lpstr>
      <vt:lpstr>Transform and load data</vt:lpstr>
      <vt:lpstr>Analyze and Visualize</vt:lpstr>
      <vt:lpstr>Warehouse</vt:lpstr>
      <vt:lpstr>Introduction</vt:lpstr>
      <vt:lpstr>Fundamentals</vt:lpstr>
      <vt:lpstr>Design the Data Warehouse</vt:lpstr>
      <vt:lpstr>Tables</vt:lpstr>
      <vt:lpstr>Dimension tables</vt:lpstr>
      <vt:lpstr>Star Schema</vt:lpstr>
      <vt:lpstr>SNOWFLAKE SCHEMA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Intro-2</dc:title>
  <dc:creator>Amrita Helwade</dc:creator>
  <cp:lastModifiedBy>Amrita Helwade</cp:lastModifiedBy>
  <cp:revision>4</cp:revision>
  <dcterms:created xsi:type="dcterms:W3CDTF">2026-02-15T07:45:02Z</dcterms:created>
  <dcterms:modified xsi:type="dcterms:W3CDTF">2026-02-15T07:57:23Z</dcterms:modified>
</cp:coreProperties>
</file>